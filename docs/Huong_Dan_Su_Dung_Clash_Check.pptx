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3" d="100"/>
          <a:sy n="73" d="100"/>
        </p:scale>
        <p:origin x="77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3736B5E3-9724-47C9-B5AA-F89F5719C072}"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40652708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3736B5E3-9724-47C9-B5AA-F89F5719C072}"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20672422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3736B5E3-9724-47C9-B5AA-F89F5719C072}"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10239253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3736B5E3-9724-47C9-B5AA-F89F5719C072}"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3531134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3736B5E3-9724-47C9-B5AA-F89F5719C072}"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35818251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3736B5E3-9724-47C9-B5AA-F89F5719C072}"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12962461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736B5E3-9724-47C9-B5AA-F89F5719C072}"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14806349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3736B5E3-9724-47C9-B5AA-F89F5719C072}"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23053497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3736B5E3-9724-47C9-B5AA-F89F5719C072}"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21017951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3736B5E3-9724-47C9-B5AA-F89F5719C072}"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3815286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3736B5E3-9724-47C9-B5AA-F89F5719C072}"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B02C26-F2F2-4606-BC71-8C2FA4F80CEA}" type="slidenum">
              <a:rPr lang="en-US" smtClean="0"/>
              <a:t>‹#›</a:t>
            </a:fld>
            <a:endParaRPr lang="en-US"/>
          </a:p>
        </p:txBody>
      </p:sp>
    </p:spTree>
    <p:extLst>
      <p:ext uri="{BB962C8B-B14F-4D97-AF65-F5344CB8AC3E}">
        <p14:creationId xmlns:p14="http://schemas.microsoft.com/office/powerpoint/2010/main" val="1657591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36B5E3-9724-47C9-B5AA-F89F5719C072}" type="datetimeFigureOut">
              <a:rPr lang="en-US" smtClean="0"/>
              <a:t>9/23/2026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CB02C26-F2F2-4606-BC71-8C2FA4F80CEA}" type="slidenum">
              <a:rPr lang="en-US" smtClean="0"/>
              <a:t>‹#›</a:t>
            </a:fld>
            <a:endParaRPr lang="en-US"/>
          </a:p>
        </p:txBody>
      </p:sp>
    </p:spTree>
    <p:extLst>
      <p:ext uri="{BB962C8B-B14F-4D97-AF65-F5344CB8AC3E}">
        <p14:creationId xmlns:p14="http://schemas.microsoft.com/office/powerpoint/2010/main" val="2541512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35000" y="6527800"/>
            <a:ext cx="10922000" cy="223138"/>
          </a:xfrm>
          <a:prstGeom prst="rect">
            <a:avLst/>
          </a:prstGeom>
          <a:noFill/>
        </p:spPr>
        <p:txBody>
          <a:bodyPr vert="horz" lIns="0" rtlCol="0">
            <a:spAutoFit/>
          </a:bodyPr>
          <a:lstStyle/>
          <a:p>
            <a:r>
              <a:rPr lang="en-US" sz="850" smtClean="0">
                <a:solidFill>
                  <a:srgbClr val="334155"/>
                </a:solidFill>
                <a:latin typeface="Segoe UI" panose="020B0502040204020203" pitchFamily="34" charset="0"/>
              </a:rPr>
              <a:t>TEKLA STRUCTURES ADDIN - CLASH CHECK (REBAR VS IFC) - VIET (BIM &amp; SHOP) 2026</a:t>
            </a:r>
            <a:endParaRPr lang="en-US" sz="850">
              <a:solidFill>
                <a:srgbClr val="334155"/>
              </a:solidFill>
              <a:latin typeface="Segoe UI" panose="020B0502040204020203" pitchFamily="34" charset="0"/>
            </a:endParaRPr>
          </a:p>
        </p:txBody>
      </p:sp>
      <p:sp>
        <p:nvSpPr>
          <p:cNvPr id="4" name="Oval 3"/>
          <p:cNvSpPr/>
          <p:nvPr/>
        </p:nvSpPr>
        <p:spPr>
          <a:xfrm>
            <a:off x="8128000" y="762000"/>
            <a:ext cx="3302000" cy="3302000"/>
          </a:xfrm>
          <a:prstGeom prst="ellipse">
            <a:avLst/>
          </a:prstGeom>
          <a:solidFill>
            <a:srgbClr val="14233C"/>
          </a:solidFill>
          <a:ln w="1905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p:cNvSpPr/>
          <p:nvPr/>
        </p:nvSpPr>
        <p:spPr>
          <a:xfrm>
            <a:off x="635000" y="952500"/>
            <a:ext cx="4318000" cy="355600"/>
          </a:xfrm>
          <a:prstGeom prst="roundRect">
            <a:avLst/>
          </a:prstGeom>
          <a:solidFill>
            <a:srgbClr val="1E293B"/>
          </a:solidFill>
          <a:ln>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smtClean="0">
                <a:solidFill>
                  <a:srgbClr val="38BDF8"/>
                </a:solidFill>
                <a:latin typeface="Segoe UI" panose="020B0502040204020203" pitchFamily="34" charset="0"/>
              </a:rPr>
              <a:t>??TEKLA STRUCTURES ADDIN - V2020 DEN V2026</a:t>
            </a:r>
            <a:endParaRPr lang="en-US" sz="1050" b="1">
              <a:solidFill>
                <a:srgbClr val="38BDF8"/>
              </a:solidFill>
              <a:latin typeface="Segoe UI" panose="020B0502040204020203" pitchFamily="34" charset="0"/>
            </a:endParaRPr>
          </a:p>
        </p:txBody>
      </p:sp>
      <p:sp>
        <p:nvSpPr>
          <p:cNvPr id="6" name="TextBox 5"/>
          <p:cNvSpPr txBox="1"/>
          <p:nvPr/>
        </p:nvSpPr>
        <p:spPr>
          <a:xfrm>
            <a:off x="635000" y="1460500"/>
            <a:ext cx="8382000" cy="1138773"/>
          </a:xfrm>
          <a:prstGeom prst="rect">
            <a:avLst/>
          </a:prstGeom>
          <a:noFill/>
        </p:spPr>
        <p:txBody>
          <a:bodyPr vert="horz" rtlCol="0">
            <a:spAutoFit/>
          </a:bodyPr>
          <a:lstStyle/>
          <a:p>
            <a:r>
              <a:rPr lang="en-US" sz="3400" b="1" smtClean="0">
                <a:solidFill>
                  <a:srgbClr val="F8FAFC"/>
                </a:solidFill>
                <a:latin typeface="Segoe UI" panose="020B0502040204020203" pitchFamily="34" charset="0"/>
              </a:rPr>
              <a:t>TEKLA CLASH CHECK
REBAR VS CAU KIEN IFC</a:t>
            </a:r>
            <a:endParaRPr lang="en-US" sz="3400" b="1">
              <a:solidFill>
                <a:srgbClr val="F8FAFC"/>
              </a:solidFill>
              <a:latin typeface="Segoe UI" panose="020B0502040204020203" pitchFamily="34" charset="0"/>
            </a:endParaRPr>
          </a:p>
        </p:txBody>
      </p:sp>
      <p:sp>
        <p:nvSpPr>
          <p:cNvPr id="7" name="TextBox 6"/>
          <p:cNvSpPr txBox="1"/>
          <p:nvPr/>
        </p:nvSpPr>
        <p:spPr>
          <a:xfrm>
            <a:off x="635000" y="2984500"/>
            <a:ext cx="8636000" cy="507831"/>
          </a:xfrm>
          <a:prstGeom prst="rect">
            <a:avLst/>
          </a:prstGeom>
          <a:noFill/>
        </p:spPr>
        <p:txBody>
          <a:bodyPr vert="horz" wrap="square" rtlCol="0">
            <a:spAutoFit/>
          </a:bodyPr>
          <a:lstStyle/>
          <a:p>
            <a:r>
              <a:rPr lang="en-US" sz="1350" smtClean="0">
                <a:solidFill>
                  <a:srgbClr val="CBD5E1"/>
                </a:solidFill>
                <a:latin typeface="Segoe UI" panose="020B0502040204020203" pitchFamily="34" charset="0"/>
              </a:rPr>
              <a:t>Giai phap kiem tra va cham &amp; khoang ho an toan tu dong giua Cot thep mo hinh Tekla va cac file tham chieu IFC (Navisworks Style toc do cao).</a:t>
            </a:r>
            <a:endParaRPr lang="en-US" sz="1350">
              <a:solidFill>
                <a:srgbClr val="CBD5E1"/>
              </a:solidFill>
              <a:latin typeface="Segoe UI" panose="020B0502040204020203" pitchFamily="34" charset="0"/>
            </a:endParaRPr>
          </a:p>
        </p:txBody>
      </p:sp>
      <p:sp>
        <p:nvSpPr>
          <p:cNvPr id="8" name="Rounded Rectangle 7"/>
          <p:cNvSpPr/>
          <p:nvPr/>
        </p:nvSpPr>
        <p:spPr>
          <a:xfrm>
            <a:off x="635000" y="3810000"/>
            <a:ext cx="3429000" cy="2222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 Rectangle 8"/>
          <p:cNvSpPr/>
          <p:nvPr/>
        </p:nvSpPr>
        <p:spPr>
          <a:xfrm>
            <a:off x="673100" y="3873500"/>
            <a:ext cx="50800" cy="2095500"/>
          </a:xfrm>
          <a:prstGeom prst="roundRect">
            <a:avLst/>
          </a:prstGeom>
          <a:solidFill>
            <a:srgbClr val="38BDF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812800" y="3937000"/>
            <a:ext cx="889000" cy="254000"/>
          </a:xfrm>
          <a:prstGeom prst="roundRect">
            <a:avLst/>
          </a:prstGeom>
          <a:solidFill>
            <a:srgbClr val="18212F"/>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8BDF8"/>
                </a:solidFill>
                <a:latin typeface="Segoe UI" panose="020B0502040204020203" pitchFamily="34" charset="0"/>
              </a:rPr>
              <a:t>SPEED</a:t>
            </a:r>
            <a:endParaRPr lang="en-US" sz="900" b="1">
              <a:solidFill>
                <a:srgbClr val="38BDF8"/>
              </a:solidFill>
              <a:latin typeface="Segoe UI" panose="020B0502040204020203" pitchFamily="34" charset="0"/>
            </a:endParaRPr>
          </a:p>
        </p:txBody>
      </p:sp>
      <p:sp>
        <p:nvSpPr>
          <p:cNvPr id="11" name="TextBox 10"/>
          <p:cNvSpPr txBox="1"/>
          <p:nvPr/>
        </p:nvSpPr>
        <p:spPr>
          <a:xfrm>
            <a:off x="1803400" y="3924300"/>
            <a:ext cx="2184400" cy="223138"/>
          </a:xfrm>
          <a:prstGeom prst="rect">
            <a:avLst/>
          </a:prstGeom>
          <a:noFill/>
        </p:spPr>
        <p:txBody>
          <a:bodyPr vert="horz" lIns="0" tIns="0" rtlCol="0">
            <a:spAutoFit/>
          </a:bodyPr>
          <a:lstStyle/>
          <a:p>
            <a:r>
              <a:rPr lang="nb-NO" sz="1150" b="1" smtClean="0">
                <a:solidFill>
                  <a:srgbClr val="F8FAFC"/>
                </a:solidFill>
                <a:latin typeface="Segoe UI" panose="020B0502040204020203" pitchFamily="34" charset="0"/>
              </a:rPr>
              <a:t>Quet Song Song Da Luong</a:t>
            </a:r>
            <a:endParaRPr lang="en-US" sz="1150" b="1">
              <a:solidFill>
                <a:srgbClr val="F8FAFC"/>
              </a:solidFill>
              <a:latin typeface="Segoe UI" panose="020B0502040204020203" pitchFamily="34" charset="0"/>
            </a:endParaRPr>
          </a:p>
        </p:txBody>
      </p:sp>
      <p:sp>
        <p:nvSpPr>
          <p:cNvPr id="12" name="TextBox 11"/>
          <p:cNvSpPr txBox="1"/>
          <p:nvPr/>
        </p:nvSpPr>
        <p:spPr>
          <a:xfrm>
            <a:off x="812800" y="4241800"/>
            <a:ext cx="3073400" cy="630942"/>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??Thuat toan loc khong gian AABB 2 pha (Broad-phase &amp; Narrow-phase).
??Tan dung 100% tat ca cac nhan CPU da luong.
??Quet hang nghin thanh thep chi trong vai giay.</a:t>
            </a:r>
            <a:endParaRPr lang="en-US" sz="950">
              <a:solidFill>
                <a:srgbClr val="CBD5E1"/>
              </a:solidFill>
              <a:latin typeface="Segoe UI" panose="020B0502040204020203" pitchFamily="34" charset="0"/>
            </a:endParaRPr>
          </a:p>
        </p:txBody>
      </p:sp>
      <p:sp>
        <p:nvSpPr>
          <p:cNvPr id="13" name="Rounded Rectangle 12"/>
          <p:cNvSpPr/>
          <p:nvPr/>
        </p:nvSpPr>
        <p:spPr>
          <a:xfrm>
            <a:off x="4381500" y="3810000"/>
            <a:ext cx="3429000" cy="2222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p:cNvSpPr/>
          <p:nvPr/>
        </p:nvSpPr>
        <p:spPr>
          <a:xfrm>
            <a:off x="4419600" y="3873500"/>
            <a:ext cx="50800" cy="2095500"/>
          </a:xfrm>
          <a:prstGeom prst="roundRect">
            <a:avLst/>
          </a:prstGeom>
          <a:solidFill>
            <a:srgbClr val="34D39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p:cNvSpPr/>
          <p:nvPr/>
        </p:nvSpPr>
        <p:spPr>
          <a:xfrm>
            <a:off x="4559300" y="3937000"/>
            <a:ext cx="889000" cy="254000"/>
          </a:xfrm>
          <a:prstGeom prst="roundRect">
            <a:avLst/>
          </a:prstGeom>
          <a:solidFill>
            <a:srgbClr val="18212F"/>
          </a:solidFill>
          <a:ln w="12700">
            <a:solidFill>
              <a:srgbClr val="34D3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4D399"/>
                </a:solidFill>
                <a:latin typeface="Segoe UI" panose="020B0502040204020203" pitchFamily="34" charset="0"/>
              </a:rPr>
              <a:t>FILTER</a:t>
            </a:r>
            <a:endParaRPr lang="en-US" sz="900" b="1">
              <a:solidFill>
                <a:srgbClr val="34D399"/>
              </a:solidFill>
              <a:latin typeface="Segoe UI" panose="020B0502040204020203" pitchFamily="34" charset="0"/>
            </a:endParaRPr>
          </a:p>
        </p:txBody>
      </p:sp>
      <p:sp>
        <p:nvSpPr>
          <p:cNvPr id="16" name="TextBox 15"/>
          <p:cNvSpPr txBox="1"/>
          <p:nvPr/>
        </p:nvSpPr>
        <p:spPr>
          <a:xfrm>
            <a:off x="5549900" y="3924300"/>
            <a:ext cx="21844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Loc Thong Minh 3 Lop</a:t>
            </a:r>
            <a:endParaRPr lang="en-US" sz="1150" b="1">
              <a:solidFill>
                <a:srgbClr val="F8FAFC"/>
              </a:solidFill>
              <a:latin typeface="Segoe UI" panose="020B0502040204020203" pitchFamily="34" charset="0"/>
            </a:endParaRPr>
          </a:p>
        </p:txBody>
      </p:sp>
      <p:sp>
        <p:nvSpPr>
          <p:cNvPr id="17" name="TextBox 16"/>
          <p:cNvSpPr txBox="1"/>
          <p:nvPr/>
        </p:nvSpPr>
        <p:spPr>
          <a:xfrm>
            <a:off x="4559300" y="4241800"/>
            <a:ext cx="3073400" cy="630942"/>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??Bo qua chi tiet phu (SkipNames): Bu long, lan can, tai cau, moi han.
??Chi quet doi tuong chi dinh (OnlyNames).
??Ho tro tich chon dong thoi nhieu file IFC.</a:t>
            </a:r>
            <a:endParaRPr lang="en-US" sz="950">
              <a:solidFill>
                <a:srgbClr val="CBD5E1"/>
              </a:solidFill>
              <a:latin typeface="Segoe UI" panose="020B0502040204020203" pitchFamily="34" charset="0"/>
            </a:endParaRPr>
          </a:p>
        </p:txBody>
      </p:sp>
      <p:sp>
        <p:nvSpPr>
          <p:cNvPr id="18" name="Rounded Rectangle 17"/>
          <p:cNvSpPr/>
          <p:nvPr/>
        </p:nvSpPr>
        <p:spPr>
          <a:xfrm>
            <a:off x="8128000" y="3810000"/>
            <a:ext cx="3429000" cy="2222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ounded Rectangle 18"/>
          <p:cNvSpPr/>
          <p:nvPr/>
        </p:nvSpPr>
        <p:spPr>
          <a:xfrm>
            <a:off x="8166100" y="3873500"/>
            <a:ext cx="50800" cy="2095500"/>
          </a:xfrm>
          <a:prstGeom prst="roundRect">
            <a:avLst/>
          </a:prstGeom>
          <a:solidFill>
            <a:srgbClr val="FBBF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ed Rectangle 19"/>
          <p:cNvSpPr/>
          <p:nvPr/>
        </p:nvSpPr>
        <p:spPr>
          <a:xfrm>
            <a:off x="8305800" y="3937000"/>
            <a:ext cx="889000" cy="254000"/>
          </a:xfrm>
          <a:prstGeom prst="roundRect">
            <a:avLst/>
          </a:prstGeom>
          <a:solidFill>
            <a:srgbClr val="18212F"/>
          </a:solidFill>
          <a:ln w="12700">
            <a:solidFill>
              <a:srgbClr val="FBBF2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FBBF24"/>
                </a:solidFill>
                <a:latin typeface="Segoe UI" panose="020B0502040204020203" pitchFamily="34" charset="0"/>
              </a:rPr>
              <a:t>AUDIT</a:t>
            </a:r>
            <a:endParaRPr lang="en-US" sz="900" b="1">
              <a:solidFill>
                <a:srgbClr val="FBBF24"/>
              </a:solidFill>
              <a:latin typeface="Segoe UI" panose="020B0502040204020203" pitchFamily="34" charset="0"/>
            </a:endParaRPr>
          </a:p>
        </p:txBody>
      </p:sp>
      <p:sp>
        <p:nvSpPr>
          <p:cNvPr id="21" name="TextBox 20"/>
          <p:cNvSpPr txBox="1"/>
          <p:nvPr/>
        </p:nvSpPr>
        <p:spPr>
          <a:xfrm>
            <a:off x="9296400" y="3924300"/>
            <a:ext cx="21844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Kiem Duyet Nhanh &amp; 3D</a:t>
            </a:r>
            <a:endParaRPr lang="en-US" sz="1150" b="1">
              <a:solidFill>
                <a:srgbClr val="F8FAFC"/>
              </a:solidFill>
              <a:latin typeface="Segoe UI" panose="020B0502040204020203" pitchFamily="34" charset="0"/>
            </a:endParaRPr>
          </a:p>
        </p:txBody>
      </p:sp>
      <p:sp>
        <p:nvSpPr>
          <p:cNvPr id="22" name="TextBox 21"/>
          <p:cNvSpPr txBox="1"/>
          <p:nvPr/>
        </p:nvSpPr>
        <p:spPr>
          <a:xfrm>
            <a:off x="8305800" y="4241800"/>
            <a:ext cx="3073400" cy="777136"/>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??Chuot phai hoac phim H / Delete de an dong da duyet.
??Tu dong nhay xuong dong ke tiep.
??Zoom can canh va ve hop lap phuong 3D mau do danh dau va cham.</a:t>
            </a:r>
            <a:endParaRPr lang="en-US" sz="950">
              <a:solidFill>
                <a:srgbClr val="CBD5E1"/>
              </a:solidFill>
              <a:latin typeface="Segoe UI" panose="020B0502040204020203" pitchFamily="34" charset="0"/>
            </a:endParaRPr>
          </a:p>
        </p:txBody>
      </p:sp>
    </p:spTree>
    <p:extLst>
      <p:ext uri="{BB962C8B-B14F-4D97-AF65-F5344CB8AC3E}">
        <p14:creationId xmlns:p14="http://schemas.microsoft.com/office/powerpoint/2010/main" val="13985659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a:off x="635000" y="304800"/>
            <a:ext cx="2794000" cy="304800"/>
          </a:xfrm>
          <a:prstGeom prst="roundRect">
            <a:avLst/>
          </a:prstGeom>
          <a:solidFill>
            <a:srgbClr val="1E293B"/>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950" b="1" smtClean="0">
                <a:solidFill>
                  <a:srgbClr val="38BDF8"/>
                </a:solidFill>
                <a:latin typeface="Segoe UI" panose="020B0502040204020203" pitchFamily="34" charset="0"/>
              </a:rPr>
              <a:t>BUOC 1: KHOI CHAY &amp; KET NOI</a:t>
            </a:r>
            <a:endParaRPr lang="en-US" sz="950" b="1">
              <a:solidFill>
                <a:srgbClr val="38BDF8"/>
              </a:solidFill>
              <a:latin typeface="Segoe UI" panose="020B0502040204020203" pitchFamily="34" charset="0"/>
            </a:endParaRPr>
          </a:p>
        </p:txBody>
      </p:sp>
      <p:sp>
        <p:nvSpPr>
          <p:cNvPr id="4" name="TextBox 3"/>
          <p:cNvSpPr txBox="1"/>
          <p:nvPr/>
        </p:nvSpPr>
        <p:spPr>
          <a:xfrm>
            <a:off x="635000" y="660400"/>
            <a:ext cx="10922000" cy="353943"/>
          </a:xfrm>
          <a:prstGeom prst="rect">
            <a:avLst/>
          </a:prstGeom>
          <a:noFill/>
        </p:spPr>
        <p:txBody>
          <a:bodyPr vert="horz" lIns="0" tIns="0" rtlCol="0">
            <a:spAutoFit/>
          </a:bodyPr>
          <a:lstStyle/>
          <a:p>
            <a:r>
              <a:rPr lang="fr-FR" sz="2000" b="1" smtClean="0">
                <a:solidFill>
                  <a:srgbClr val="F8FAFC"/>
                </a:solidFill>
                <a:latin typeface="Segoe UI" panose="020B0502040204020203" pitchFamily="34" charset="0"/>
              </a:rPr>
              <a:t>Khoi chay cong cu tu Ribbon Tekla Structures</a:t>
            </a:r>
            <a:endParaRPr lang="en-US" sz="2000" b="1">
              <a:solidFill>
                <a:srgbClr val="F8FAFC"/>
              </a:solidFill>
              <a:latin typeface="Segoe UI" panose="020B0502040204020203" pitchFamily="34" charset="0"/>
            </a:endParaRPr>
          </a:p>
        </p:txBody>
      </p:sp>
      <p:sp>
        <p:nvSpPr>
          <p:cNvPr id="5" name="TextBox 4"/>
          <p:cNvSpPr txBox="1"/>
          <p:nvPr/>
        </p:nvSpPr>
        <p:spPr>
          <a:xfrm>
            <a:off x="635000" y="1117600"/>
            <a:ext cx="10922000" cy="215444"/>
          </a:xfrm>
          <a:prstGeom prst="rect">
            <a:avLst/>
          </a:prstGeom>
          <a:noFill/>
        </p:spPr>
        <p:txBody>
          <a:bodyPr vert="horz" lIns="0" tIns="0" rtlCol="0">
            <a:spAutoFit/>
          </a:bodyPr>
          <a:lstStyle/>
          <a:p>
            <a:r>
              <a:rPr lang="en-US" sz="1100" smtClean="0">
                <a:solidFill>
                  <a:srgbClr val="94A3B8"/>
                </a:solidFill>
                <a:latin typeface="Segoe UI" panose="020B0502040204020203" pitchFamily="34" charset="0"/>
              </a:rPr>
              <a:t>Tich hop truc quan vao thanh cong cu Tekla Ribbon hoac chay file thuc thi doc lap</a:t>
            </a:r>
            <a:endParaRPr lang="en-US" sz="1100">
              <a:solidFill>
                <a:srgbClr val="94A3B8"/>
              </a:solidFill>
              <a:latin typeface="Segoe UI" panose="020B0502040204020203" pitchFamily="34" charset="0"/>
            </a:endParaRPr>
          </a:p>
        </p:txBody>
      </p:sp>
      <p:sp>
        <p:nvSpPr>
          <p:cNvPr id="6" name="TextBox 5"/>
          <p:cNvSpPr txBox="1"/>
          <p:nvPr/>
        </p:nvSpPr>
        <p:spPr>
          <a:xfrm>
            <a:off x="635000" y="6527800"/>
            <a:ext cx="10922000" cy="223138"/>
          </a:xfrm>
          <a:prstGeom prst="rect">
            <a:avLst/>
          </a:prstGeom>
          <a:noFill/>
        </p:spPr>
        <p:txBody>
          <a:bodyPr vert="horz" lIns="0" rtlCol="0">
            <a:spAutoFit/>
          </a:bodyPr>
          <a:lstStyle/>
          <a:p>
            <a:r>
              <a:rPr lang="en-US" sz="850" smtClean="0">
                <a:solidFill>
                  <a:srgbClr val="334155"/>
                </a:solidFill>
                <a:latin typeface="Segoe UI" panose="020B0502040204020203" pitchFamily="34" charset="0"/>
              </a:rPr>
              <a:t>TEKLA STRUCTURES ADDIN - CLASH CHECK (REBAR VS IFC) - VIET (BIM &amp; SHOP) 2026</a:t>
            </a:r>
            <a:endParaRPr lang="en-US" sz="850">
              <a:solidFill>
                <a:srgbClr val="334155"/>
              </a:solidFill>
              <a:latin typeface="Segoe UI" panose="020B0502040204020203" pitchFamily="34" charset="0"/>
            </a:endParaRPr>
          </a:p>
        </p:txBody>
      </p:sp>
      <p:sp>
        <p:nvSpPr>
          <p:cNvPr id="7" name="Rounded Rectangle 6"/>
          <p:cNvSpPr/>
          <p:nvPr/>
        </p:nvSpPr>
        <p:spPr>
          <a:xfrm>
            <a:off x="584200" y="1536700"/>
            <a:ext cx="5943600" cy="1651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p:cNvPicPr>
            <a:picLocks/>
          </p:cNvPicPr>
          <p:nvPr/>
        </p:nvPicPr>
        <p:blipFill>
          <a:blip r:embed="rId2">
            <a:extLst>
              <a:ext uri="{28A0092B-C50C-407E-A947-70E740481C1C}">
                <a14:useLocalDpi xmlns:a14="http://schemas.microsoft.com/office/drawing/2010/main" val="0"/>
              </a:ext>
            </a:extLst>
          </a:blip>
          <a:stretch>
            <a:fillRect/>
          </a:stretch>
        </p:blipFill>
        <p:spPr>
          <a:xfrm>
            <a:off x="635000" y="1587500"/>
            <a:ext cx="5842000" cy="1270000"/>
          </a:xfrm>
          <a:prstGeom prst="rect">
            <a:avLst/>
          </a:prstGeom>
          <a:ln w="12700">
            <a:solidFill>
              <a:schemeClr val="tx1"/>
            </a:solidFill>
          </a:ln>
        </p:spPr>
      </p:pic>
      <p:sp>
        <p:nvSpPr>
          <p:cNvPr id="9" name="TextBox 8"/>
          <p:cNvSpPr txBox="1"/>
          <p:nvPr/>
        </p:nvSpPr>
        <p:spPr>
          <a:xfrm>
            <a:off x="635000" y="2921000"/>
            <a:ext cx="5842000" cy="176972"/>
          </a:xfrm>
          <a:prstGeom prst="rect">
            <a:avLst/>
          </a:prstGeom>
          <a:noFill/>
        </p:spPr>
        <p:txBody>
          <a:bodyPr vert="horz" lIns="0" tIns="0" rtlCol="0">
            <a:spAutoFit/>
          </a:bodyPr>
          <a:lstStyle/>
          <a:p>
            <a:pPr algn="ctr"/>
            <a:r>
              <a:rPr lang="en-US" sz="850" i="1" smtClean="0">
                <a:solidFill>
                  <a:srgbClr val="94A3B8"/>
                </a:solidFill>
                <a:latin typeface="Segoe UI" panose="020B0502040204020203" pitchFamily="34" charset="0"/>
              </a:rPr>
              <a:t>Vi tri nut bam Clash-check tren thanh Ribbon Tekla Structures</a:t>
            </a:r>
            <a:endParaRPr lang="en-US" sz="850" i="1">
              <a:solidFill>
                <a:srgbClr val="94A3B8"/>
              </a:solidFill>
              <a:latin typeface="Segoe UI" panose="020B0502040204020203" pitchFamily="34" charset="0"/>
            </a:endParaRPr>
          </a:p>
        </p:txBody>
      </p:sp>
      <p:sp>
        <p:nvSpPr>
          <p:cNvPr id="10" name="Rounded Rectangle 9"/>
          <p:cNvSpPr/>
          <p:nvPr/>
        </p:nvSpPr>
        <p:spPr>
          <a:xfrm>
            <a:off x="635000" y="3238500"/>
            <a:ext cx="5842000" cy="1397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p:cNvSpPr/>
          <p:nvPr/>
        </p:nvSpPr>
        <p:spPr>
          <a:xfrm>
            <a:off x="673100" y="3302000"/>
            <a:ext cx="50800" cy="1270000"/>
          </a:xfrm>
          <a:prstGeom prst="roundRect">
            <a:avLst/>
          </a:prstGeom>
          <a:solidFill>
            <a:srgbClr val="38BDF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p:nvSpPr>
        <p:spPr>
          <a:xfrm>
            <a:off x="812800" y="3365500"/>
            <a:ext cx="889000" cy="254000"/>
          </a:xfrm>
          <a:prstGeom prst="roundRect">
            <a:avLst/>
          </a:prstGeom>
          <a:solidFill>
            <a:srgbClr val="18212F"/>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8BDF8"/>
                </a:solidFill>
                <a:latin typeface="Segoe UI" panose="020B0502040204020203" pitchFamily="34" charset="0"/>
              </a:rPr>
              <a:t>RIBBON</a:t>
            </a:r>
            <a:endParaRPr lang="en-US" sz="900" b="1">
              <a:solidFill>
                <a:srgbClr val="38BDF8"/>
              </a:solidFill>
              <a:latin typeface="Segoe UI" panose="020B0502040204020203" pitchFamily="34" charset="0"/>
            </a:endParaRPr>
          </a:p>
        </p:txBody>
      </p:sp>
      <p:sp>
        <p:nvSpPr>
          <p:cNvPr id="13" name="TextBox 12"/>
          <p:cNvSpPr txBox="1"/>
          <p:nvPr/>
        </p:nvSpPr>
        <p:spPr>
          <a:xfrm>
            <a:off x="1803400" y="3352800"/>
            <a:ext cx="45974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Goi truc tiep tu Ribbon Tekla</a:t>
            </a:r>
            <a:endParaRPr lang="en-US" sz="1150" b="1">
              <a:solidFill>
                <a:srgbClr val="F8FAFC"/>
              </a:solidFill>
              <a:latin typeface="Segoe UI" panose="020B0502040204020203" pitchFamily="34" charset="0"/>
            </a:endParaRPr>
          </a:p>
        </p:txBody>
      </p:sp>
      <p:sp>
        <p:nvSpPr>
          <p:cNvPr id="14" name="TextBox 13"/>
          <p:cNvSpPr txBox="1"/>
          <p:nvPr/>
        </p:nvSpPr>
        <p:spPr>
          <a:xfrm>
            <a:off x="812800" y="3670300"/>
            <a:ext cx="5486400" cy="484748"/>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??Mo tab My-tool tren thanh Ribbon Tekla Structures.
??Nhaps vao nut Clash-check de mo giao dien kiem tra va cham.
??Cong cu tu dong lien ket voi Tekla Open API cua mo hinh dang mo.</a:t>
            </a:r>
            <a:endParaRPr lang="en-US" sz="950">
              <a:solidFill>
                <a:srgbClr val="CBD5E1"/>
              </a:solidFill>
              <a:latin typeface="Segoe UI" panose="020B0502040204020203" pitchFamily="34" charset="0"/>
            </a:endParaRPr>
          </a:p>
        </p:txBody>
      </p:sp>
      <p:sp>
        <p:nvSpPr>
          <p:cNvPr id="15" name="Rounded Rectangle 14"/>
          <p:cNvSpPr/>
          <p:nvPr/>
        </p:nvSpPr>
        <p:spPr>
          <a:xfrm>
            <a:off x="635000" y="4826000"/>
            <a:ext cx="5842000" cy="1333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 Rectangle 15"/>
          <p:cNvSpPr/>
          <p:nvPr/>
        </p:nvSpPr>
        <p:spPr>
          <a:xfrm>
            <a:off x="673100" y="4889500"/>
            <a:ext cx="50800" cy="1206500"/>
          </a:xfrm>
          <a:prstGeom prst="roundRect">
            <a:avLst/>
          </a:prstGeom>
          <a:solidFill>
            <a:srgbClr val="34D39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p:cNvSpPr/>
          <p:nvPr/>
        </p:nvSpPr>
        <p:spPr>
          <a:xfrm>
            <a:off x="812800" y="4953000"/>
            <a:ext cx="1079500" cy="254000"/>
          </a:xfrm>
          <a:prstGeom prst="roundRect">
            <a:avLst/>
          </a:prstGeom>
          <a:solidFill>
            <a:srgbClr val="18212F"/>
          </a:solidFill>
          <a:ln w="12700">
            <a:solidFill>
              <a:srgbClr val="34D3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4D399"/>
                </a:solidFill>
                <a:latin typeface="Segoe UI" panose="020B0502040204020203" pitchFamily="34" charset="0"/>
              </a:rPr>
              <a:t>STANDALONE</a:t>
            </a:r>
            <a:endParaRPr lang="en-US" sz="900" b="1">
              <a:solidFill>
                <a:srgbClr val="34D399"/>
              </a:solidFill>
              <a:latin typeface="Segoe UI" panose="020B0502040204020203" pitchFamily="34" charset="0"/>
            </a:endParaRPr>
          </a:p>
        </p:txBody>
      </p:sp>
      <p:sp>
        <p:nvSpPr>
          <p:cNvPr id="18" name="TextBox 17"/>
          <p:cNvSpPr txBox="1"/>
          <p:nvPr/>
        </p:nvSpPr>
        <p:spPr>
          <a:xfrm>
            <a:off x="1993900" y="4940300"/>
            <a:ext cx="44069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Chay doc lap (Standalone EXE)</a:t>
            </a:r>
            <a:endParaRPr lang="en-US" sz="1150" b="1">
              <a:solidFill>
                <a:srgbClr val="F8FAFC"/>
              </a:solidFill>
              <a:latin typeface="Segoe UI" panose="020B0502040204020203" pitchFamily="34" charset="0"/>
            </a:endParaRPr>
          </a:p>
        </p:txBody>
      </p:sp>
      <p:sp>
        <p:nvSpPr>
          <p:cNvPr id="19" name="TextBox 18"/>
          <p:cNvSpPr txBox="1"/>
          <p:nvPr/>
        </p:nvSpPr>
        <p:spPr>
          <a:xfrm>
            <a:off x="812800" y="5257800"/>
            <a:ext cx="5486400" cy="338554"/>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??Co the chay truc tiep file Clash-check.exe trong thu muc dist ma khong can mo Ribbon.
??Ung dung tu dong phan giai tien trinh TeklaStructures.exe dang hoat dong de ket noi.</a:t>
            </a:r>
            <a:endParaRPr lang="en-US" sz="950">
              <a:solidFill>
                <a:srgbClr val="CBD5E1"/>
              </a:solidFill>
              <a:latin typeface="Segoe UI" panose="020B0502040204020203" pitchFamily="34" charset="0"/>
            </a:endParaRPr>
          </a:p>
        </p:txBody>
      </p:sp>
      <p:sp>
        <p:nvSpPr>
          <p:cNvPr id="20" name="Rounded Rectangle 19"/>
          <p:cNvSpPr/>
          <p:nvPr/>
        </p:nvSpPr>
        <p:spPr>
          <a:xfrm>
            <a:off x="6794500" y="1587500"/>
            <a:ext cx="4762500" cy="2159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p:cNvSpPr/>
          <p:nvPr/>
        </p:nvSpPr>
        <p:spPr>
          <a:xfrm>
            <a:off x="6832600" y="1651000"/>
            <a:ext cx="50800" cy="2032000"/>
          </a:xfrm>
          <a:prstGeom prst="roundRect">
            <a:avLst/>
          </a:prstGeom>
          <a:solidFill>
            <a:srgbClr val="FBBF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p:nvSpPr>
        <p:spPr>
          <a:xfrm>
            <a:off x="6972300" y="1714500"/>
            <a:ext cx="1079500" cy="254000"/>
          </a:xfrm>
          <a:prstGeom prst="roundRect">
            <a:avLst/>
          </a:prstGeom>
          <a:solidFill>
            <a:srgbClr val="18212F"/>
          </a:solidFill>
          <a:ln w="12700">
            <a:solidFill>
              <a:srgbClr val="FBBF2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FBBF24"/>
                </a:solidFill>
                <a:latin typeface="Segoe UI" panose="020B0502040204020203" pitchFamily="34" charset="0"/>
              </a:rPr>
              <a:t>API STATUS</a:t>
            </a:r>
            <a:endParaRPr lang="en-US" sz="900" b="1">
              <a:solidFill>
                <a:srgbClr val="FBBF24"/>
              </a:solidFill>
              <a:latin typeface="Segoe UI" panose="020B0502040204020203" pitchFamily="34" charset="0"/>
            </a:endParaRPr>
          </a:p>
        </p:txBody>
      </p:sp>
      <p:sp>
        <p:nvSpPr>
          <p:cNvPr id="23" name="TextBox 22"/>
          <p:cNvSpPr txBox="1"/>
          <p:nvPr/>
        </p:nvSpPr>
        <p:spPr>
          <a:xfrm>
            <a:off x="8153400" y="1701800"/>
            <a:ext cx="33274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Den Bao Trang Thai Ket Noi</a:t>
            </a:r>
            <a:endParaRPr lang="en-US" sz="1150" b="1">
              <a:solidFill>
                <a:srgbClr val="F8FAFC"/>
              </a:solidFill>
              <a:latin typeface="Segoe UI" panose="020B0502040204020203" pitchFamily="34" charset="0"/>
            </a:endParaRPr>
          </a:p>
        </p:txBody>
      </p:sp>
      <p:sp>
        <p:nvSpPr>
          <p:cNvPr id="24" name="TextBox 23"/>
          <p:cNvSpPr txBox="1"/>
          <p:nvPr/>
        </p:nvSpPr>
        <p:spPr>
          <a:xfrm>
            <a:off x="6972300" y="2019300"/>
            <a:ext cx="4406900" cy="777136"/>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??Den bao xanh: [Ten Model Tekla]: Cong cu da lien ket thanh cong voi mo hinh, san sang quet.
??Den bao do: [Chua ket noi Tekla]: Hay mo phan mem Tekla Structures va mo mot du an truoc khi su dung.
??Tu dong nap thu vien Tekla phien ban hien hanh.</a:t>
            </a:r>
            <a:endParaRPr lang="en-US" sz="950">
              <a:solidFill>
                <a:srgbClr val="CBD5E1"/>
              </a:solidFill>
              <a:latin typeface="Segoe UI" panose="020B0502040204020203" pitchFamily="34" charset="0"/>
            </a:endParaRPr>
          </a:p>
        </p:txBody>
      </p:sp>
      <p:sp>
        <p:nvSpPr>
          <p:cNvPr id="25" name="Rounded Rectangle 24"/>
          <p:cNvSpPr/>
          <p:nvPr/>
        </p:nvSpPr>
        <p:spPr>
          <a:xfrm>
            <a:off x="6794500" y="3937000"/>
            <a:ext cx="4762500" cy="2222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p:cNvSpPr/>
          <p:nvPr/>
        </p:nvSpPr>
        <p:spPr>
          <a:xfrm>
            <a:off x="6832600" y="4000500"/>
            <a:ext cx="50800" cy="2095500"/>
          </a:xfrm>
          <a:prstGeom prst="roundRect">
            <a:avLst/>
          </a:prstGeom>
          <a:solidFill>
            <a:srgbClr val="A855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ounded Rectangle 26"/>
          <p:cNvSpPr/>
          <p:nvPr/>
        </p:nvSpPr>
        <p:spPr>
          <a:xfrm>
            <a:off x="6972300" y="4064000"/>
            <a:ext cx="1079500" cy="254000"/>
          </a:xfrm>
          <a:prstGeom prst="roundRect">
            <a:avLst/>
          </a:prstGeom>
          <a:solidFill>
            <a:srgbClr val="18212F"/>
          </a:solidFill>
          <a:ln w="12700">
            <a:solidFill>
              <a:srgbClr val="A855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A855F7"/>
                </a:solidFill>
                <a:latin typeface="Segoe UI" panose="020B0502040204020203" pitchFamily="34" charset="0"/>
              </a:rPr>
              <a:t>REF MODELS</a:t>
            </a:r>
            <a:endParaRPr lang="en-US" sz="900" b="1">
              <a:solidFill>
                <a:srgbClr val="A855F7"/>
              </a:solidFill>
              <a:latin typeface="Segoe UI" panose="020B0502040204020203" pitchFamily="34" charset="0"/>
            </a:endParaRPr>
          </a:p>
        </p:txBody>
      </p:sp>
      <p:sp>
        <p:nvSpPr>
          <p:cNvPr id="28" name="TextBox 27"/>
          <p:cNvSpPr txBox="1"/>
          <p:nvPr/>
        </p:nvSpPr>
        <p:spPr>
          <a:xfrm>
            <a:off x="8153400" y="4051300"/>
            <a:ext cx="3327400" cy="223138"/>
          </a:xfrm>
          <a:prstGeom prst="rect">
            <a:avLst/>
          </a:prstGeom>
          <a:noFill/>
        </p:spPr>
        <p:txBody>
          <a:bodyPr vert="horz" lIns="0" tIns="0" rtlCol="0">
            <a:spAutoFit/>
          </a:bodyPr>
          <a:lstStyle/>
          <a:p>
            <a:r>
              <a:rPr lang="fr-FR" sz="1150" b="1" smtClean="0">
                <a:solidFill>
                  <a:srgbClr val="F8FAFC"/>
                </a:solidFill>
                <a:latin typeface="Segoe UI" panose="020B0502040204020203" pitchFamily="34" charset="0"/>
              </a:rPr>
              <a:t>Tu Dong Nap File Tham Chieu IFC</a:t>
            </a:r>
            <a:endParaRPr lang="en-US" sz="1150" b="1">
              <a:solidFill>
                <a:srgbClr val="F8FAFC"/>
              </a:solidFill>
              <a:latin typeface="Segoe UI" panose="020B0502040204020203" pitchFamily="34" charset="0"/>
            </a:endParaRPr>
          </a:p>
        </p:txBody>
      </p:sp>
      <p:sp>
        <p:nvSpPr>
          <p:cNvPr id="29" name="TextBox 28"/>
          <p:cNvSpPr txBox="1"/>
          <p:nvPr/>
        </p:nvSpPr>
        <p:spPr>
          <a:xfrm>
            <a:off x="6972300" y="4368800"/>
            <a:ext cx="4406900" cy="777136"/>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??Ngay khi ket noi, cong cu tu dong quet danh muc Reference Models dang co trong du an Tekla.
??Tu dong dien day du danh sach ten file IFC vao menu tha xuong de nguoi dung lua chon.
??Khong can chon duong dan file thu cong.</a:t>
            </a:r>
            <a:endParaRPr lang="en-US" sz="950">
              <a:solidFill>
                <a:srgbClr val="CBD5E1"/>
              </a:solidFill>
              <a:latin typeface="Segoe UI" panose="020B0502040204020203" pitchFamily="34" charset="0"/>
            </a:endParaRPr>
          </a:p>
        </p:txBody>
      </p:sp>
    </p:spTree>
    <p:extLst>
      <p:ext uri="{BB962C8B-B14F-4D97-AF65-F5344CB8AC3E}">
        <p14:creationId xmlns:p14="http://schemas.microsoft.com/office/powerpoint/2010/main" val="2105383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a:off x="635000" y="304800"/>
            <a:ext cx="2794000" cy="304800"/>
          </a:xfrm>
          <a:prstGeom prst="roundRect">
            <a:avLst/>
          </a:prstGeom>
          <a:solidFill>
            <a:srgbClr val="1E293B"/>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50" b="1" smtClean="0">
                <a:solidFill>
                  <a:srgbClr val="38BDF8"/>
                </a:solidFill>
                <a:latin typeface="Segoe UI" panose="020B0502040204020203" pitchFamily="34" charset="0"/>
              </a:rPr>
              <a:t>BUOC 2: THIET LAP DAU VAO</a:t>
            </a:r>
            <a:endParaRPr lang="en-US" sz="950" b="1">
              <a:solidFill>
                <a:srgbClr val="38BDF8"/>
              </a:solidFill>
              <a:latin typeface="Segoe UI" panose="020B0502040204020203" pitchFamily="34" charset="0"/>
            </a:endParaRPr>
          </a:p>
        </p:txBody>
      </p:sp>
      <p:sp>
        <p:nvSpPr>
          <p:cNvPr id="4" name="TextBox 3"/>
          <p:cNvSpPr txBox="1"/>
          <p:nvPr/>
        </p:nvSpPr>
        <p:spPr>
          <a:xfrm>
            <a:off x="635000" y="660400"/>
            <a:ext cx="10922000" cy="353943"/>
          </a:xfrm>
          <a:prstGeom prst="rect">
            <a:avLst/>
          </a:prstGeom>
          <a:noFill/>
        </p:spPr>
        <p:txBody>
          <a:bodyPr vert="horz" lIns="0" tIns="0" rtlCol="0">
            <a:spAutoFit/>
          </a:bodyPr>
          <a:lstStyle/>
          <a:p>
            <a:r>
              <a:rPr lang="en-US" sz="2000" b="1" smtClean="0">
                <a:solidFill>
                  <a:srgbClr val="F8FAFC"/>
                </a:solidFill>
                <a:latin typeface="Segoe UI" panose="020B0502040204020203" pitchFamily="34" charset="0"/>
              </a:rPr>
              <a:t>Thiet lap Cot thep muc tieu &amp; Tich chon nhieu File IFC</a:t>
            </a:r>
            <a:endParaRPr lang="en-US" sz="2000" b="1">
              <a:solidFill>
                <a:srgbClr val="F8FAFC"/>
              </a:solidFill>
              <a:latin typeface="Segoe UI" panose="020B0502040204020203" pitchFamily="34" charset="0"/>
            </a:endParaRPr>
          </a:p>
        </p:txBody>
      </p:sp>
      <p:sp>
        <p:nvSpPr>
          <p:cNvPr id="5" name="TextBox 4"/>
          <p:cNvSpPr txBox="1"/>
          <p:nvPr/>
        </p:nvSpPr>
        <p:spPr>
          <a:xfrm>
            <a:off x="635000" y="1117600"/>
            <a:ext cx="10922000" cy="215444"/>
          </a:xfrm>
          <a:prstGeom prst="rect">
            <a:avLst/>
          </a:prstGeom>
          <a:noFill/>
        </p:spPr>
        <p:txBody>
          <a:bodyPr vert="horz" lIns="0" tIns="0" rtlCol="0">
            <a:spAutoFit/>
          </a:bodyPr>
          <a:lstStyle/>
          <a:p>
            <a:r>
              <a:rPr lang="en-US" sz="1100" smtClean="0">
                <a:solidFill>
                  <a:srgbClr val="94A3B8"/>
                </a:solidFill>
                <a:latin typeface="Segoe UI" panose="020B0502040204020203" pitchFamily="34" charset="0"/>
              </a:rPr>
              <a:t>Linh hoat lua chon pham vi doi tuong quet va quan ly dong thoi nhieu nguon mo hinh IFC</a:t>
            </a:r>
            <a:endParaRPr lang="en-US" sz="1100">
              <a:solidFill>
                <a:srgbClr val="94A3B8"/>
              </a:solidFill>
              <a:latin typeface="Segoe UI" panose="020B0502040204020203" pitchFamily="34" charset="0"/>
            </a:endParaRPr>
          </a:p>
        </p:txBody>
      </p:sp>
      <p:sp>
        <p:nvSpPr>
          <p:cNvPr id="6" name="TextBox 5"/>
          <p:cNvSpPr txBox="1"/>
          <p:nvPr/>
        </p:nvSpPr>
        <p:spPr>
          <a:xfrm>
            <a:off x="635000" y="6527800"/>
            <a:ext cx="10922000" cy="223138"/>
          </a:xfrm>
          <a:prstGeom prst="rect">
            <a:avLst/>
          </a:prstGeom>
          <a:noFill/>
        </p:spPr>
        <p:txBody>
          <a:bodyPr vert="horz" lIns="0" rtlCol="0">
            <a:spAutoFit/>
          </a:bodyPr>
          <a:lstStyle/>
          <a:p>
            <a:r>
              <a:rPr lang="en-US" sz="850" smtClean="0">
                <a:solidFill>
                  <a:srgbClr val="334155"/>
                </a:solidFill>
                <a:latin typeface="Segoe UI" panose="020B0502040204020203" pitchFamily="34" charset="0"/>
              </a:rPr>
              <a:t>TEKLA STRUCTURES ADDIN - CLASH CHECK (REBAR VS IFC) - VIET (BIM &amp; SHOP) 2026</a:t>
            </a:r>
            <a:endParaRPr lang="en-US" sz="850">
              <a:solidFill>
                <a:srgbClr val="334155"/>
              </a:solidFill>
              <a:latin typeface="Segoe UI" panose="020B0502040204020203" pitchFamily="34" charset="0"/>
            </a:endParaRPr>
          </a:p>
        </p:txBody>
      </p:sp>
      <p:sp>
        <p:nvSpPr>
          <p:cNvPr id="7" name="Rounded Rectangle 6"/>
          <p:cNvSpPr/>
          <p:nvPr/>
        </p:nvSpPr>
        <p:spPr>
          <a:xfrm>
            <a:off x="584200" y="1536700"/>
            <a:ext cx="3530600" cy="4953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p:cNvPicPr>
            <a:picLocks/>
          </p:cNvPicPr>
          <p:nvPr/>
        </p:nvPicPr>
        <p:blipFill>
          <a:blip r:embed="rId2">
            <a:extLst>
              <a:ext uri="{28A0092B-C50C-407E-A947-70E740481C1C}">
                <a14:useLocalDpi xmlns:a14="http://schemas.microsoft.com/office/drawing/2010/main" val="0"/>
              </a:ext>
            </a:extLst>
          </a:blip>
          <a:stretch>
            <a:fillRect/>
          </a:stretch>
        </p:blipFill>
        <p:spPr>
          <a:xfrm>
            <a:off x="635000" y="1587500"/>
            <a:ext cx="3429000" cy="4572000"/>
          </a:xfrm>
          <a:prstGeom prst="rect">
            <a:avLst/>
          </a:prstGeom>
          <a:ln w="12700">
            <a:solidFill>
              <a:schemeClr val="tx1"/>
            </a:solidFill>
          </a:ln>
        </p:spPr>
      </p:pic>
      <p:sp>
        <p:nvSpPr>
          <p:cNvPr id="9" name="TextBox 8"/>
          <p:cNvSpPr txBox="1"/>
          <p:nvPr/>
        </p:nvSpPr>
        <p:spPr>
          <a:xfrm>
            <a:off x="635000" y="6223000"/>
            <a:ext cx="3429000" cy="176972"/>
          </a:xfrm>
          <a:prstGeom prst="rect">
            <a:avLst/>
          </a:prstGeom>
          <a:noFill/>
        </p:spPr>
        <p:txBody>
          <a:bodyPr vert="horz" lIns="0" tIns="0" rtlCol="0">
            <a:spAutoFit/>
          </a:bodyPr>
          <a:lstStyle/>
          <a:p>
            <a:pPr algn="ctr"/>
            <a:r>
              <a:rPr lang="en-US" sz="850" i="1" smtClean="0">
                <a:solidFill>
                  <a:srgbClr val="94A3B8"/>
                </a:solidFill>
                <a:latin typeface="Segoe UI" panose="020B0502040204020203" pitchFamily="34" charset="0"/>
              </a:rPr>
              <a:t>Menu tha xuong tich chon linh hoat nhieu file IFC</a:t>
            </a:r>
            <a:endParaRPr lang="en-US" sz="850" i="1">
              <a:solidFill>
                <a:srgbClr val="94A3B8"/>
              </a:solidFill>
              <a:latin typeface="Segoe UI" panose="020B0502040204020203" pitchFamily="34" charset="0"/>
            </a:endParaRPr>
          </a:p>
        </p:txBody>
      </p:sp>
      <p:sp>
        <p:nvSpPr>
          <p:cNvPr id="10" name="Rounded Rectangle 9"/>
          <p:cNvSpPr/>
          <p:nvPr/>
        </p:nvSpPr>
        <p:spPr>
          <a:xfrm>
            <a:off x="4381500" y="1587500"/>
            <a:ext cx="7175500" cy="1397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p:cNvSpPr/>
          <p:nvPr/>
        </p:nvSpPr>
        <p:spPr>
          <a:xfrm>
            <a:off x="4419600" y="1651000"/>
            <a:ext cx="50800" cy="1270000"/>
          </a:xfrm>
          <a:prstGeom prst="roundRect">
            <a:avLst/>
          </a:prstGeom>
          <a:solidFill>
            <a:srgbClr val="38BDF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p:nvSpPr>
        <p:spPr>
          <a:xfrm>
            <a:off x="4559300" y="1714500"/>
            <a:ext cx="1193800" cy="254000"/>
          </a:xfrm>
          <a:prstGeom prst="roundRect">
            <a:avLst/>
          </a:prstGeom>
          <a:solidFill>
            <a:srgbClr val="18212F"/>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8BDF8"/>
                </a:solidFill>
                <a:latin typeface="Segoe UI" panose="020B0502040204020203" pitchFamily="34" charset="0"/>
              </a:rPr>
              <a:t>REBAR SCOPE</a:t>
            </a:r>
            <a:endParaRPr lang="en-US" sz="900" b="1">
              <a:solidFill>
                <a:srgbClr val="38BDF8"/>
              </a:solidFill>
              <a:latin typeface="Segoe UI" panose="020B0502040204020203" pitchFamily="34" charset="0"/>
            </a:endParaRPr>
          </a:p>
        </p:txBody>
      </p:sp>
      <p:sp>
        <p:nvSpPr>
          <p:cNvPr id="13" name="TextBox 12"/>
          <p:cNvSpPr txBox="1"/>
          <p:nvPr/>
        </p:nvSpPr>
        <p:spPr>
          <a:xfrm>
            <a:off x="5854700" y="1701800"/>
            <a:ext cx="56261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Lua Chon Pham Vi Cot Thep Quet</a:t>
            </a:r>
            <a:endParaRPr lang="en-US" sz="1150" b="1">
              <a:solidFill>
                <a:srgbClr val="F8FAFC"/>
              </a:solidFill>
              <a:latin typeface="Segoe UI" panose="020B0502040204020203" pitchFamily="34" charset="0"/>
            </a:endParaRPr>
          </a:p>
        </p:txBody>
      </p:sp>
      <p:sp>
        <p:nvSpPr>
          <p:cNvPr id="14" name="TextBox 13"/>
          <p:cNvSpPr txBox="1"/>
          <p:nvPr/>
        </p:nvSpPr>
        <p:spPr>
          <a:xfrm>
            <a:off x="4559300" y="2019300"/>
            <a:ext cx="6819900" cy="484748"/>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??Thep dang chon: Chi quet cac thanh cot thep hoac cau kien be tong dang duoc chon truc tiep trong man hinh Tekla 3D. Thich hop kiem tra nhanh tung vung/tung cau kien.
??Toan bo thep: Tu dong quet toan bo cot thep trong toan bo mo hinh du an.</a:t>
            </a:r>
            <a:endParaRPr lang="en-US" sz="950">
              <a:solidFill>
                <a:srgbClr val="CBD5E1"/>
              </a:solidFill>
              <a:latin typeface="Segoe UI" panose="020B0502040204020203" pitchFamily="34" charset="0"/>
            </a:endParaRPr>
          </a:p>
        </p:txBody>
      </p:sp>
      <p:sp>
        <p:nvSpPr>
          <p:cNvPr id="15" name="Rounded Rectangle 14"/>
          <p:cNvSpPr/>
          <p:nvPr/>
        </p:nvSpPr>
        <p:spPr>
          <a:xfrm>
            <a:off x="4381500" y="3175000"/>
            <a:ext cx="7175500" cy="1460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 Rectangle 15"/>
          <p:cNvSpPr/>
          <p:nvPr/>
        </p:nvSpPr>
        <p:spPr>
          <a:xfrm>
            <a:off x="4419600" y="3238500"/>
            <a:ext cx="50800" cy="1333500"/>
          </a:xfrm>
          <a:prstGeom prst="roundRect">
            <a:avLst/>
          </a:prstGeom>
          <a:solidFill>
            <a:srgbClr val="34D39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p:cNvSpPr/>
          <p:nvPr/>
        </p:nvSpPr>
        <p:spPr>
          <a:xfrm>
            <a:off x="4559300" y="3302000"/>
            <a:ext cx="965200" cy="254000"/>
          </a:xfrm>
          <a:prstGeom prst="roundRect">
            <a:avLst/>
          </a:prstGeom>
          <a:solidFill>
            <a:srgbClr val="18212F"/>
          </a:solidFill>
          <a:ln w="12700">
            <a:solidFill>
              <a:srgbClr val="34D3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4D399"/>
                </a:solidFill>
                <a:latin typeface="Segoe UI" panose="020B0502040204020203" pitchFamily="34" charset="0"/>
              </a:rPr>
              <a:t>MULTI IFC</a:t>
            </a:r>
            <a:endParaRPr lang="en-US" sz="900" b="1">
              <a:solidFill>
                <a:srgbClr val="34D399"/>
              </a:solidFill>
              <a:latin typeface="Segoe UI" panose="020B0502040204020203" pitchFamily="34" charset="0"/>
            </a:endParaRPr>
          </a:p>
        </p:txBody>
      </p:sp>
      <p:sp>
        <p:nvSpPr>
          <p:cNvPr id="18" name="TextBox 17"/>
          <p:cNvSpPr txBox="1"/>
          <p:nvPr/>
        </p:nvSpPr>
        <p:spPr>
          <a:xfrm>
            <a:off x="5626100" y="3289300"/>
            <a:ext cx="58547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Tich Chon Dong Thoi Nhieu File IFC</a:t>
            </a:r>
            <a:endParaRPr lang="en-US" sz="1150" b="1">
              <a:solidFill>
                <a:srgbClr val="F8FAFC"/>
              </a:solidFill>
              <a:latin typeface="Segoe UI" panose="020B0502040204020203" pitchFamily="34" charset="0"/>
            </a:endParaRPr>
          </a:p>
        </p:txBody>
      </p:sp>
      <p:sp>
        <p:nvSpPr>
          <p:cNvPr id="19" name="TextBox 18"/>
          <p:cNvSpPr txBox="1"/>
          <p:nvPr/>
        </p:nvSpPr>
        <p:spPr>
          <a:xfrm>
            <a:off x="4559300" y="3606800"/>
            <a:ext cx="6819900" cy="484748"/>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??Ho tro tich chon dong thoi 1, 2 hoac nhieu file IFC cung luc (vi du: vua quet file MEP, vua quet file Ket cau thep).
??Tich hop thanh tim kiem go nhanh ten file de loc danh sach.
??Nut Chon tat ca va Bo chon het giup thao tac cuc ky nhanh chong.</a:t>
            </a:r>
            <a:endParaRPr lang="en-US" sz="950">
              <a:solidFill>
                <a:srgbClr val="CBD5E1"/>
              </a:solidFill>
              <a:latin typeface="Segoe UI" panose="020B0502040204020203" pitchFamily="34" charset="0"/>
            </a:endParaRPr>
          </a:p>
        </p:txBody>
      </p:sp>
      <p:sp>
        <p:nvSpPr>
          <p:cNvPr id="20" name="Rounded Rectangle 19"/>
          <p:cNvSpPr/>
          <p:nvPr/>
        </p:nvSpPr>
        <p:spPr>
          <a:xfrm>
            <a:off x="4381500" y="4826000"/>
            <a:ext cx="7175500" cy="1333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p:cNvSpPr/>
          <p:nvPr/>
        </p:nvSpPr>
        <p:spPr>
          <a:xfrm>
            <a:off x="4419600" y="4889500"/>
            <a:ext cx="50800" cy="1206500"/>
          </a:xfrm>
          <a:prstGeom prst="roundRect">
            <a:avLst/>
          </a:prstGeom>
          <a:solidFill>
            <a:srgbClr val="FBBF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p:nvSpPr>
        <p:spPr>
          <a:xfrm>
            <a:off x="4559300" y="4953000"/>
            <a:ext cx="1397000" cy="254000"/>
          </a:xfrm>
          <a:prstGeom prst="roundRect">
            <a:avLst/>
          </a:prstGeom>
          <a:solidFill>
            <a:srgbClr val="18212F"/>
          </a:solidFill>
          <a:ln w="12700">
            <a:solidFill>
              <a:srgbClr val="FBBF2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FBBF24"/>
                </a:solidFill>
                <a:latin typeface="Segoe UI" panose="020B0502040204020203" pitchFamily="34" charset="0"/>
              </a:rPr>
              <a:t>SPECIAL MODES</a:t>
            </a:r>
            <a:endParaRPr lang="en-US" sz="900" b="1">
              <a:solidFill>
                <a:srgbClr val="FBBF24"/>
              </a:solidFill>
              <a:latin typeface="Segoe UI" panose="020B0502040204020203" pitchFamily="34" charset="0"/>
            </a:endParaRPr>
          </a:p>
        </p:txBody>
      </p:sp>
      <p:sp>
        <p:nvSpPr>
          <p:cNvPr id="23" name="TextBox 22"/>
          <p:cNvSpPr txBox="1"/>
          <p:nvPr/>
        </p:nvSpPr>
        <p:spPr>
          <a:xfrm>
            <a:off x="6057900" y="4940300"/>
            <a:ext cx="54229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Cac Che Do Quet IFC Nang Cao</a:t>
            </a:r>
            <a:endParaRPr lang="en-US" sz="1150" b="1">
              <a:solidFill>
                <a:srgbClr val="F8FAFC"/>
              </a:solidFill>
              <a:latin typeface="Segoe UI" panose="020B0502040204020203" pitchFamily="34" charset="0"/>
            </a:endParaRPr>
          </a:p>
        </p:txBody>
      </p:sp>
      <p:sp>
        <p:nvSpPr>
          <p:cNvPr id="24" name="TextBox 23"/>
          <p:cNvSpPr txBox="1"/>
          <p:nvPr/>
        </p:nvSpPr>
        <p:spPr>
          <a:xfrm>
            <a:off x="4559300" y="5257800"/>
            <a:ext cx="6819900" cy="338554"/>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??Tat ca file IFC (Navisworks Auto): Tu dong tim tat ca cac file IFC cat qua vung hop bao AABB cua thep.
??Chi cau kien IFC dang chon: Chi quet cac Part hoac Reference Object dang duoc pick chon tren Tekla 3D.</a:t>
            </a:r>
            <a:endParaRPr lang="en-US" sz="950">
              <a:solidFill>
                <a:srgbClr val="CBD5E1"/>
              </a:solidFill>
              <a:latin typeface="Segoe UI" panose="020B0502040204020203" pitchFamily="34" charset="0"/>
            </a:endParaRPr>
          </a:p>
        </p:txBody>
      </p:sp>
    </p:spTree>
    <p:extLst>
      <p:ext uri="{BB962C8B-B14F-4D97-AF65-F5344CB8AC3E}">
        <p14:creationId xmlns:p14="http://schemas.microsoft.com/office/powerpoint/2010/main" val="19602519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a:off x="635000" y="304800"/>
            <a:ext cx="2794000" cy="304800"/>
          </a:xfrm>
          <a:prstGeom prst="roundRect">
            <a:avLst/>
          </a:prstGeom>
          <a:solidFill>
            <a:srgbClr val="1E293B"/>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50" b="1" smtClean="0">
                <a:solidFill>
                  <a:srgbClr val="38BDF8"/>
                </a:solidFill>
                <a:latin typeface="Segoe UI" panose="020B0502040204020203" pitchFamily="34" charset="0"/>
              </a:rPr>
              <a:t>BUOC 3: THIET LAP THUAT TOAN</a:t>
            </a:r>
            <a:endParaRPr lang="en-US" sz="950" b="1">
              <a:solidFill>
                <a:srgbClr val="38BDF8"/>
              </a:solidFill>
              <a:latin typeface="Segoe UI" panose="020B0502040204020203" pitchFamily="34" charset="0"/>
            </a:endParaRPr>
          </a:p>
        </p:txBody>
      </p:sp>
      <p:sp>
        <p:nvSpPr>
          <p:cNvPr id="4" name="TextBox 3"/>
          <p:cNvSpPr txBox="1"/>
          <p:nvPr/>
        </p:nvSpPr>
        <p:spPr>
          <a:xfrm>
            <a:off x="635000" y="660400"/>
            <a:ext cx="10922000" cy="353943"/>
          </a:xfrm>
          <a:prstGeom prst="rect">
            <a:avLst/>
          </a:prstGeom>
          <a:noFill/>
        </p:spPr>
        <p:txBody>
          <a:bodyPr vert="horz" lIns="0" tIns="0" rtlCol="0">
            <a:spAutoFit/>
          </a:bodyPr>
          <a:lstStyle/>
          <a:p>
            <a:r>
              <a:rPr lang="en-US" sz="2000" b="1" smtClean="0">
                <a:solidFill>
                  <a:srgbClr val="F8FAFC"/>
                </a:solidFill>
                <a:latin typeface="Segoe UI" panose="020B0502040204020203" pitchFamily="34" charset="0"/>
              </a:rPr>
              <a:t>Dung sai va cham (Tolerance) &amp; Khoang ho an toan (Clearance)</a:t>
            </a:r>
            <a:endParaRPr lang="en-US" sz="2000" b="1">
              <a:solidFill>
                <a:srgbClr val="F8FAFC"/>
              </a:solidFill>
              <a:latin typeface="Segoe UI" panose="020B0502040204020203" pitchFamily="34" charset="0"/>
            </a:endParaRPr>
          </a:p>
        </p:txBody>
      </p:sp>
      <p:sp>
        <p:nvSpPr>
          <p:cNvPr id="5" name="TextBox 4"/>
          <p:cNvSpPr txBox="1"/>
          <p:nvPr/>
        </p:nvSpPr>
        <p:spPr>
          <a:xfrm>
            <a:off x="635000" y="1117600"/>
            <a:ext cx="10922000" cy="215444"/>
          </a:xfrm>
          <a:prstGeom prst="rect">
            <a:avLst/>
          </a:prstGeom>
          <a:noFill/>
        </p:spPr>
        <p:txBody>
          <a:bodyPr vert="horz" lIns="0" tIns="0" rtlCol="0">
            <a:spAutoFit/>
          </a:bodyPr>
          <a:lstStyle/>
          <a:p>
            <a:r>
              <a:rPr lang="en-US" sz="1100" smtClean="0">
                <a:solidFill>
                  <a:srgbClr val="94A3B8"/>
                </a:solidFill>
                <a:latin typeface="Segoe UI" panose="020B0502040204020203" pitchFamily="34" charset="0"/>
              </a:rPr>
              <a:t>Cau hinh chuan xac de loai bo va cham gia va phat hien xam pham khoang cach an toan</a:t>
            </a:r>
            <a:endParaRPr lang="en-US" sz="1100">
              <a:solidFill>
                <a:srgbClr val="94A3B8"/>
              </a:solidFill>
              <a:latin typeface="Segoe UI" panose="020B0502040204020203" pitchFamily="34" charset="0"/>
            </a:endParaRPr>
          </a:p>
        </p:txBody>
      </p:sp>
      <p:sp>
        <p:nvSpPr>
          <p:cNvPr id="6" name="TextBox 5"/>
          <p:cNvSpPr txBox="1"/>
          <p:nvPr/>
        </p:nvSpPr>
        <p:spPr>
          <a:xfrm>
            <a:off x="635000" y="6527800"/>
            <a:ext cx="10922000" cy="223138"/>
          </a:xfrm>
          <a:prstGeom prst="rect">
            <a:avLst/>
          </a:prstGeom>
          <a:noFill/>
        </p:spPr>
        <p:txBody>
          <a:bodyPr vert="horz" lIns="0" rtlCol="0">
            <a:spAutoFit/>
          </a:bodyPr>
          <a:lstStyle/>
          <a:p>
            <a:r>
              <a:rPr lang="en-US" sz="850" smtClean="0">
                <a:solidFill>
                  <a:srgbClr val="334155"/>
                </a:solidFill>
                <a:latin typeface="Segoe UI" panose="020B0502040204020203" pitchFamily="34" charset="0"/>
              </a:rPr>
              <a:t>TEKLA STRUCTURES ADDIN - CLASH CHECK (REBAR VS IFC) - VIET (BIM &amp; SHOP) 2026</a:t>
            </a:r>
            <a:endParaRPr lang="en-US" sz="850">
              <a:solidFill>
                <a:srgbClr val="334155"/>
              </a:solidFill>
              <a:latin typeface="Segoe UI" panose="020B0502040204020203" pitchFamily="34" charset="0"/>
            </a:endParaRPr>
          </a:p>
        </p:txBody>
      </p:sp>
      <p:sp>
        <p:nvSpPr>
          <p:cNvPr id="7" name="Rounded Rectangle 6"/>
          <p:cNvSpPr/>
          <p:nvPr/>
        </p:nvSpPr>
        <p:spPr>
          <a:xfrm>
            <a:off x="584200" y="1536700"/>
            <a:ext cx="11023600" cy="1651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p:cNvPicPr>
            <a:picLocks/>
          </p:cNvPicPr>
          <p:nvPr/>
        </p:nvPicPr>
        <p:blipFill>
          <a:blip r:embed="rId2">
            <a:extLst>
              <a:ext uri="{28A0092B-C50C-407E-A947-70E740481C1C}">
                <a14:useLocalDpi xmlns:a14="http://schemas.microsoft.com/office/drawing/2010/main" val="0"/>
              </a:ext>
            </a:extLst>
          </a:blip>
          <a:stretch>
            <a:fillRect/>
          </a:stretch>
        </p:blipFill>
        <p:spPr>
          <a:xfrm>
            <a:off x="635000" y="1587500"/>
            <a:ext cx="10922000" cy="1270000"/>
          </a:xfrm>
          <a:prstGeom prst="rect">
            <a:avLst/>
          </a:prstGeom>
          <a:ln w="12700">
            <a:solidFill>
              <a:schemeClr val="tx1"/>
            </a:solidFill>
          </a:ln>
        </p:spPr>
      </p:pic>
      <p:sp>
        <p:nvSpPr>
          <p:cNvPr id="9" name="TextBox 8"/>
          <p:cNvSpPr txBox="1"/>
          <p:nvPr/>
        </p:nvSpPr>
        <p:spPr>
          <a:xfrm>
            <a:off x="635000" y="2921000"/>
            <a:ext cx="10922000" cy="176972"/>
          </a:xfrm>
          <a:prstGeom prst="rect">
            <a:avLst/>
          </a:prstGeom>
          <a:noFill/>
        </p:spPr>
        <p:txBody>
          <a:bodyPr vert="horz" lIns="0" tIns="0" rtlCol="0">
            <a:spAutoFit/>
          </a:bodyPr>
          <a:lstStyle/>
          <a:p>
            <a:pPr algn="ctr"/>
            <a:r>
              <a:rPr lang="en-US" sz="850" i="1" smtClean="0">
                <a:solidFill>
                  <a:srgbClr val="94A3B8"/>
                </a:solidFill>
                <a:latin typeface="Segoe UI" panose="020B0502040204020203" pitchFamily="34" charset="0"/>
              </a:rPr>
              <a:t>Cum tham so Dung sai (mm) va Khoang ho (mm) tren thanh dieu khien</a:t>
            </a:r>
            <a:endParaRPr lang="en-US" sz="850" i="1">
              <a:solidFill>
                <a:srgbClr val="94A3B8"/>
              </a:solidFill>
              <a:latin typeface="Segoe UI" panose="020B0502040204020203" pitchFamily="34" charset="0"/>
            </a:endParaRPr>
          </a:p>
        </p:txBody>
      </p:sp>
      <p:sp>
        <p:nvSpPr>
          <p:cNvPr id="10" name="Rounded Rectangle 9"/>
          <p:cNvSpPr/>
          <p:nvPr/>
        </p:nvSpPr>
        <p:spPr>
          <a:xfrm>
            <a:off x="635000" y="3238500"/>
            <a:ext cx="5334000" cy="1651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p:cNvSpPr/>
          <p:nvPr/>
        </p:nvSpPr>
        <p:spPr>
          <a:xfrm>
            <a:off x="673100" y="3302000"/>
            <a:ext cx="50800" cy="1524000"/>
          </a:xfrm>
          <a:prstGeom prst="roundRect">
            <a:avLst/>
          </a:prstGeom>
          <a:solidFill>
            <a:srgbClr val="38BDF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p:nvSpPr>
        <p:spPr>
          <a:xfrm>
            <a:off x="812800" y="3365500"/>
            <a:ext cx="965200" cy="254000"/>
          </a:xfrm>
          <a:prstGeom prst="roundRect">
            <a:avLst/>
          </a:prstGeom>
          <a:solidFill>
            <a:srgbClr val="18212F"/>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8BDF8"/>
                </a:solidFill>
                <a:latin typeface="Segoe UI" panose="020B0502040204020203" pitchFamily="34" charset="0"/>
              </a:rPr>
              <a:t>TOLERANCE</a:t>
            </a:r>
            <a:endParaRPr lang="en-US" sz="900" b="1">
              <a:solidFill>
                <a:srgbClr val="38BDF8"/>
              </a:solidFill>
              <a:latin typeface="Segoe UI" panose="020B0502040204020203" pitchFamily="34" charset="0"/>
            </a:endParaRPr>
          </a:p>
        </p:txBody>
      </p:sp>
      <p:sp>
        <p:nvSpPr>
          <p:cNvPr id="13" name="TextBox 12"/>
          <p:cNvSpPr txBox="1"/>
          <p:nvPr/>
        </p:nvSpPr>
        <p:spPr>
          <a:xfrm>
            <a:off x="1879600" y="3352800"/>
            <a:ext cx="40132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Dung sai (mm) - Bo qua cham nhe mep</a:t>
            </a:r>
            <a:endParaRPr lang="en-US" sz="1150" b="1">
              <a:solidFill>
                <a:srgbClr val="F8FAFC"/>
              </a:solidFill>
              <a:latin typeface="Segoe UI" panose="020B0502040204020203" pitchFamily="34" charset="0"/>
            </a:endParaRPr>
          </a:p>
        </p:txBody>
      </p:sp>
      <p:sp>
        <p:nvSpPr>
          <p:cNvPr id="14" name="TextBox 13"/>
          <p:cNvSpPr txBox="1"/>
          <p:nvPr/>
        </p:nvSpPr>
        <p:spPr>
          <a:xfrm>
            <a:off x="812800" y="3670300"/>
            <a:ext cx="4978400" cy="630942"/>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??Dinh nghia: Do xuyen thau chap nhan duoc giua thanh thep va cau kien IFC.
??Co che: Neu do lan (overlap) nho hon hoac bang Dung sai, cong cu se KHONG bao va cham.
??Khuyen dung: Dat 1 mm de loai bo sai so tinh toan lam tron so hoc be mat 3D.</a:t>
            </a:r>
            <a:endParaRPr lang="en-US" sz="950">
              <a:solidFill>
                <a:srgbClr val="CBD5E1"/>
              </a:solidFill>
              <a:latin typeface="Segoe UI" panose="020B0502040204020203" pitchFamily="34" charset="0"/>
            </a:endParaRPr>
          </a:p>
        </p:txBody>
      </p:sp>
      <p:sp>
        <p:nvSpPr>
          <p:cNvPr id="15" name="Rounded Rectangle 14"/>
          <p:cNvSpPr/>
          <p:nvPr/>
        </p:nvSpPr>
        <p:spPr>
          <a:xfrm>
            <a:off x="6223000" y="3238500"/>
            <a:ext cx="5334000" cy="1651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 Rectangle 15"/>
          <p:cNvSpPr/>
          <p:nvPr/>
        </p:nvSpPr>
        <p:spPr>
          <a:xfrm>
            <a:off x="6261100" y="3302000"/>
            <a:ext cx="50800" cy="1524000"/>
          </a:xfrm>
          <a:prstGeom prst="roundRect">
            <a:avLst/>
          </a:prstGeom>
          <a:solidFill>
            <a:srgbClr val="FBBF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p:cNvSpPr/>
          <p:nvPr/>
        </p:nvSpPr>
        <p:spPr>
          <a:xfrm>
            <a:off x="6400800" y="3365500"/>
            <a:ext cx="965200" cy="254000"/>
          </a:xfrm>
          <a:prstGeom prst="roundRect">
            <a:avLst/>
          </a:prstGeom>
          <a:solidFill>
            <a:srgbClr val="18212F"/>
          </a:solidFill>
          <a:ln w="12700">
            <a:solidFill>
              <a:srgbClr val="FBBF2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FBBF24"/>
                </a:solidFill>
                <a:latin typeface="Segoe UI" panose="020B0502040204020203" pitchFamily="34" charset="0"/>
              </a:rPr>
              <a:t>CLEARANCE</a:t>
            </a:r>
            <a:endParaRPr lang="en-US" sz="900" b="1">
              <a:solidFill>
                <a:srgbClr val="FBBF24"/>
              </a:solidFill>
              <a:latin typeface="Segoe UI" panose="020B0502040204020203" pitchFamily="34" charset="0"/>
            </a:endParaRPr>
          </a:p>
        </p:txBody>
      </p:sp>
      <p:sp>
        <p:nvSpPr>
          <p:cNvPr id="18" name="TextBox 17"/>
          <p:cNvSpPr txBox="1"/>
          <p:nvPr/>
        </p:nvSpPr>
        <p:spPr>
          <a:xfrm>
            <a:off x="7467600" y="3352800"/>
            <a:ext cx="4013200" cy="223138"/>
          </a:xfrm>
          <a:prstGeom prst="rect">
            <a:avLst/>
          </a:prstGeom>
          <a:noFill/>
        </p:spPr>
        <p:txBody>
          <a:bodyPr vert="horz" lIns="0" tIns="0" rtlCol="0">
            <a:spAutoFit/>
          </a:bodyPr>
          <a:lstStyle/>
          <a:p>
            <a:r>
              <a:rPr lang="de-DE" sz="1150" b="1" smtClean="0">
                <a:solidFill>
                  <a:srgbClr val="F8FAFC"/>
                </a:solidFill>
                <a:latin typeface="Segoe UI" panose="020B0502040204020203" pitchFamily="34" charset="0"/>
              </a:rPr>
              <a:t>Khoang ho (mm) - Vung dem an toan</a:t>
            </a:r>
            <a:endParaRPr lang="en-US" sz="1150" b="1">
              <a:solidFill>
                <a:srgbClr val="F8FAFC"/>
              </a:solidFill>
              <a:latin typeface="Segoe UI" panose="020B0502040204020203" pitchFamily="34" charset="0"/>
            </a:endParaRPr>
          </a:p>
        </p:txBody>
      </p:sp>
      <p:sp>
        <p:nvSpPr>
          <p:cNvPr id="19" name="TextBox 18"/>
          <p:cNvSpPr txBox="1"/>
          <p:nvPr/>
        </p:nvSpPr>
        <p:spPr>
          <a:xfrm>
            <a:off x="6400800" y="3670300"/>
            <a:ext cx="4978400" cy="777136"/>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??Dinh nghia: Khoang cach toi thieu bat buoc giua mep ngoai cot thep va cau kien IFC.
??Co che: Neu 2 doi tuong khong cham nhau nhung khoang cach &lt; Khoang ho, van bao va cham.
??Khuyen dung: Dat khi can dam bao chieu day lop be tong bao ve hoac chong chap ong MEP.</a:t>
            </a:r>
            <a:endParaRPr lang="en-US" sz="950">
              <a:solidFill>
                <a:srgbClr val="CBD5E1"/>
              </a:solidFill>
              <a:latin typeface="Segoe UI" panose="020B0502040204020203" pitchFamily="34" charset="0"/>
            </a:endParaRPr>
          </a:p>
        </p:txBody>
      </p:sp>
      <p:sp>
        <p:nvSpPr>
          <p:cNvPr id="20" name="Rounded Rectangle 19"/>
          <p:cNvSpPr/>
          <p:nvPr/>
        </p:nvSpPr>
        <p:spPr>
          <a:xfrm>
            <a:off x="635000" y="5080000"/>
            <a:ext cx="10922000" cy="1143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p:cNvSpPr/>
          <p:nvPr/>
        </p:nvSpPr>
        <p:spPr>
          <a:xfrm>
            <a:off x="673100" y="5143500"/>
            <a:ext cx="50800" cy="1016000"/>
          </a:xfrm>
          <a:prstGeom prst="roundRect">
            <a:avLst/>
          </a:prstGeom>
          <a:solidFill>
            <a:srgbClr val="F43F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p:nvSpPr>
        <p:spPr>
          <a:xfrm>
            <a:off x="812800" y="5207000"/>
            <a:ext cx="889000" cy="254000"/>
          </a:xfrm>
          <a:prstGeom prst="roundRect">
            <a:avLst/>
          </a:prstGeom>
          <a:solidFill>
            <a:srgbClr val="18212F"/>
          </a:solidFill>
          <a:ln w="12700">
            <a:solidFill>
              <a:srgbClr val="F43F5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F43F5E"/>
                </a:solidFill>
                <a:latin typeface="Segoe UI" panose="020B0502040204020203" pitchFamily="34" charset="0"/>
              </a:rPr>
              <a:t>SEVERITY</a:t>
            </a:r>
            <a:endParaRPr lang="en-US" sz="900" b="1">
              <a:solidFill>
                <a:srgbClr val="F43F5E"/>
              </a:solidFill>
              <a:latin typeface="Segoe UI" panose="020B0502040204020203" pitchFamily="34" charset="0"/>
            </a:endParaRPr>
          </a:p>
        </p:txBody>
      </p:sp>
      <p:sp>
        <p:nvSpPr>
          <p:cNvPr id="23" name="TextBox 22"/>
          <p:cNvSpPr txBox="1"/>
          <p:nvPr/>
        </p:nvSpPr>
        <p:spPr>
          <a:xfrm>
            <a:off x="1803400" y="5194300"/>
            <a:ext cx="96774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Phan Cap Muc Do Va Cham Truc Quan Theo Mau Sac</a:t>
            </a:r>
            <a:endParaRPr lang="en-US" sz="1150" b="1">
              <a:solidFill>
                <a:srgbClr val="F8FAFC"/>
              </a:solidFill>
              <a:latin typeface="Segoe UI" panose="020B0502040204020203" pitchFamily="34" charset="0"/>
            </a:endParaRPr>
          </a:p>
        </p:txBody>
      </p:sp>
      <p:sp>
        <p:nvSpPr>
          <p:cNvPr id="24" name="TextBox 23"/>
          <p:cNvSpPr txBox="1"/>
          <p:nvPr/>
        </p:nvSpPr>
        <p:spPr>
          <a:xfrm>
            <a:off x="812800" y="5511800"/>
            <a:ext cx="10566400" cy="484748"/>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??Severe (Mau do): Va cham nghiem trong - do lan sau vao than cau kien (&gt; 20mm).
??Medium (Mau cam): Va cham muc trung binh (tu 5mm den 20mm).
??Minor (Mau vang): Va cham nhe mep hoac xam pham khoang ho an toan (&lt; 5mm).</a:t>
            </a:r>
            <a:endParaRPr lang="en-US" sz="950">
              <a:solidFill>
                <a:srgbClr val="CBD5E1"/>
              </a:solidFill>
              <a:latin typeface="Segoe UI" panose="020B0502040204020203" pitchFamily="34" charset="0"/>
            </a:endParaRPr>
          </a:p>
        </p:txBody>
      </p:sp>
    </p:spTree>
    <p:extLst>
      <p:ext uri="{BB962C8B-B14F-4D97-AF65-F5344CB8AC3E}">
        <p14:creationId xmlns:p14="http://schemas.microsoft.com/office/powerpoint/2010/main" val="9012307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a:off x="635000" y="304800"/>
            <a:ext cx="2794000" cy="304800"/>
          </a:xfrm>
          <a:prstGeom prst="roundRect">
            <a:avLst/>
          </a:prstGeom>
          <a:solidFill>
            <a:srgbClr val="1E293B"/>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l-PL" sz="950" b="1" smtClean="0">
                <a:solidFill>
                  <a:srgbClr val="38BDF8"/>
                </a:solidFill>
                <a:latin typeface="Segoe UI" panose="020B0502040204020203" pitchFamily="34" charset="0"/>
              </a:rPr>
              <a:t>BUOC 4: BO LOC CAU KIEN</a:t>
            </a:r>
            <a:endParaRPr lang="en-US" sz="950" b="1">
              <a:solidFill>
                <a:srgbClr val="38BDF8"/>
              </a:solidFill>
              <a:latin typeface="Segoe UI" panose="020B0502040204020203" pitchFamily="34" charset="0"/>
            </a:endParaRPr>
          </a:p>
        </p:txBody>
      </p:sp>
      <p:sp>
        <p:nvSpPr>
          <p:cNvPr id="4" name="TextBox 3"/>
          <p:cNvSpPr txBox="1"/>
          <p:nvPr/>
        </p:nvSpPr>
        <p:spPr>
          <a:xfrm>
            <a:off x="635000" y="660400"/>
            <a:ext cx="10922000" cy="353943"/>
          </a:xfrm>
          <a:prstGeom prst="rect">
            <a:avLst/>
          </a:prstGeom>
          <a:noFill/>
        </p:spPr>
        <p:txBody>
          <a:bodyPr vert="horz" lIns="0" tIns="0" rtlCol="0">
            <a:spAutoFit/>
          </a:bodyPr>
          <a:lstStyle/>
          <a:p>
            <a:r>
              <a:rPr lang="en-US" sz="2000" b="1" smtClean="0">
                <a:solidFill>
                  <a:srgbClr val="F8FAFC"/>
                </a:solidFill>
                <a:latin typeface="Segoe UI" panose="020B0502040204020203" pitchFamily="34" charset="0"/>
              </a:rPr>
              <a:t>Bo loc thong minh 3 lop: SkipNames &amp; OnlyNames</a:t>
            </a:r>
            <a:endParaRPr lang="en-US" sz="2000" b="1">
              <a:solidFill>
                <a:srgbClr val="F8FAFC"/>
              </a:solidFill>
              <a:latin typeface="Segoe UI" panose="020B0502040204020203" pitchFamily="34" charset="0"/>
            </a:endParaRPr>
          </a:p>
        </p:txBody>
      </p:sp>
      <p:sp>
        <p:nvSpPr>
          <p:cNvPr id="5" name="TextBox 4"/>
          <p:cNvSpPr txBox="1"/>
          <p:nvPr/>
        </p:nvSpPr>
        <p:spPr>
          <a:xfrm>
            <a:off x="635000" y="1117600"/>
            <a:ext cx="10922000" cy="215444"/>
          </a:xfrm>
          <a:prstGeom prst="rect">
            <a:avLst/>
          </a:prstGeom>
          <a:noFill/>
        </p:spPr>
        <p:txBody>
          <a:bodyPr vert="horz" lIns="0" tIns="0" rtlCol="0">
            <a:spAutoFit/>
          </a:bodyPr>
          <a:lstStyle/>
          <a:p>
            <a:r>
              <a:rPr lang="en-US" sz="1100" smtClean="0">
                <a:solidFill>
                  <a:srgbClr val="94A3B8"/>
                </a:solidFill>
                <a:latin typeface="Segoe UI" panose="020B0502040204020203" pitchFamily="34" charset="0"/>
              </a:rPr>
              <a:t>Loai tru triet de cau kien phu va tap trung kiem tra chinh xac cac doi tuong ket cau quan trong</a:t>
            </a:r>
            <a:endParaRPr lang="en-US" sz="1100">
              <a:solidFill>
                <a:srgbClr val="94A3B8"/>
              </a:solidFill>
              <a:latin typeface="Segoe UI" panose="020B0502040204020203" pitchFamily="34" charset="0"/>
            </a:endParaRPr>
          </a:p>
        </p:txBody>
      </p:sp>
      <p:sp>
        <p:nvSpPr>
          <p:cNvPr id="6" name="TextBox 5"/>
          <p:cNvSpPr txBox="1"/>
          <p:nvPr/>
        </p:nvSpPr>
        <p:spPr>
          <a:xfrm>
            <a:off x="635000" y="6527800"/>
            <a:ext cx="10922000" cy="223138"/>
          </a:xfrm>
          <a:prstGeom prst="rect">
            <a:avLst/>
          </a:prstGeom>
          <a:noFill/>
        </p:spPr>
        <p:txBody>
          <a:bodyPr vert="horz" lIns="0" rtlCol="0">
            <a:spAutoFit/>
          </a:bodyPr>
          <a:lstStyle/>
          <a:p>
            <a:r>
              <a:rPr lang="en-US" sz="850" smtClean="0">
                <a:solidFill>
                  <a:srgbClr val="334155"/>
                </a:solidFill>
                <a:latin typeface="Segoe UI" panose="020B0502040204020203" pitchFamily="34" charset="0"/>
              </a:rPr>
              <a:t>TEKLA STRUCTURES ADDIN - CLASH CHECK (REBAR VS IFC) - VIET (BIM &amp; SHOP) 2026</a:t>
            </a:r>
            <a:endParaRPr lang="en-US" sz="850">
              <a:solidFill>
                <a:srgbClr val="334155"/>
              </a:solidFill>
              <a:latin typeface="Segoe UI" panose="020B0502040204020203" pitchFamily="34" charset="0"/>
            </a:endParaRPr>
          </a:p>
        </p:txBody>
      </p:sp>
      <p:sp>
        <p:nvSpPr>
          <p:cNvPr id="7" name="Rounded Rectangle 6"/>
          <p:cNvSpPr/>
          <p:nvPr/>
        </p:nvSpPr>
        <p:spPr>
          <a:xfrm>
            <a:off x="584200" y="1536700"/>
            <a:ext cx="4419600" cy="2159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p:cNvPicPr>
            <a:picLocks/>
          </p:cNvPicPr>
          <p:nvPr/>
        </p:nvPicPr>
        <p:blipFill>
          <a:blip r:embed="rId2">
            <a:extLst>
              <a:ext uri="{28A0092B-C50C-407E-A947-70E740481C1C}">
                <a14:useLocalDpi xmlns:a14="http://schemas.microsoft.com/office/drawing/2010/main" val="0"/>
              </a:ext>
            </a:extLst>
          </a:blip>
          <a:stretch>
            <a:fillRect/>
          </a:stretch>
        </p:blipFill>
        <p:spPr>
          <a:xfrm>
            <a:off x="635000" y="1587500"/>
            <a:ext cx="4318000" cy="1778000"/>
          </a:xfrm>
          <a:prstGeom prst="rect">
            <a:avLst/>
          </a:prstGeom>
          <a:ln w="12700">
            <a:solidFill>
              <a:schemeClr val="tx1"/>
            </a:solidFill>
          </a:ln>
        </p:spPr>
      </p:pic>
      <p:sp>
        <p:nvSpPr>
          <p:cNvPr id="9" name="TextBox 8"/>
          <p:cNvSpPr txBox="1"/>
          <p:nvPr/>
        </p:nvSpPr>
        <p:spPr>
          <a:xfrm>
            <a:off x="635000" y="3429000"/>
            <a:ext cx="4318000" cy="176972"/>
          </a:xfrm>
          <a:prstGeom prst="rect">
            <a:avLst/>
          </a:prstGeom>
          <a:noFill/>
        </p:spPr>
        <p:txBody>
          <a:bodyPr vert="horz" lIns="0" tIns="0" rtlCol="0">
            <a:spAutoFit/>
          </a:bodyPr>
          <a:lstStyle/>
          <a:p>
            <a:pPr algn="ctr"/>
            <a:r>
              <a:rPr lang="en-US" sz="850" i="1" smtClean="0">
                <a:solidFill>
                  <a:srgbClr val="94A3B8"/>
                </a:solidFill>
                <a:latin typeface="Segoe UI" panose="020B0502040204020203" pitchFamily="34" charset="0"/>
              </a:rPr>
              <a:t>Danh sach tu khoa bo qua (SkipNames) tu dong luu</a:t>
            </a:r>
            <a:endParaRPr lang="en-US" sz="850" i="1">
              <a:solidFill>
                <a:srgbClr val="94A3B8"/>
              </a:solidFill>
              <a:latin typeface="Segoe UI" panose="020B0502040204020203" pitchFamily="34" charset="0"/>
            </a:endParaRPr>
          </a:p>
        </p:txBody>
      </p:sp>
      <p:sp>
        <p:nvSpPr>
          <p:cNvPr id="10" name="Rounded Rectangle 9"/>
          <p:cNvSpPr/>
          <p:nvPr/>
        </p:nvSpPr>
        <p:spPr>
          <a:xfrm>
            <a:off x="5270500" y="1587500"/>
            <a:ext cx="6286500" cy="1778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p:cNvSpPr/>
          <p:nvPr/>
        </p:nvSpPr>
        <p:spPr>
          <a:xfrm>
            <a:off x="5308600" y="1651000"/>
            <a:ext cx="50800" cy="1651000"/>
          </a:xfrm>
          <a:prstGeom prst="roundRect">
            <a:avLst/>
          </a:prstGeom>
          <a:solidFill>
            <a:srgbClr val="34D39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p:nvSpPr>
        <p:spPr>
          <a:xfrm>
            <a:off x="5448300" y="1714500"/>
            <a:ext cx="965200" cy="254000"/>
          </a:xfrm>
          <a:prstGeom prst="roundRect">
            <a:avLst/>
          </a:prstGeom>
          <a:solidFill>
            <a:srgbClr val="18212F"/>
          </a:solidFill>
          <a:ln w="12700">
            <a:solidFill>
              <a:srgbClr val="34D3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4D399"/>
                </a:solidFill>
                <a:latin typeface="Segoe UI" panose="020B0502040204020203" pitchFamily="34" charset="0"/>
              </a:rPr>
              <a:t>SKIPNAMES</a:t>
            </a:r>
            <a:endParaRPr lang="en-US" sz="900" b="1">
              <a:solidFill>
                <a:srgbClr val="34D399"/>
              </a:solidFill>
              <a:latin typeface="Segoe UI" panose="020B0502040204020203" pitchFamily="34" charset="0"/>
            </a:endParaRPr>
          </a:p>
        </p:txBody>
      </p:sp>
      <p:sp>
        <p:nvSpPr>
          <p:cNvPr id="13" name="TextBox 12"/>
          <p:cNvSpPr txBox="1"/>
          <p:nvPr/>
        </p:nvSpPr>
        <p:spPr>
          <a:xfrm>
            <a:off x="6515100" y="1701800"/>
            <a:ext cx="49657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Luoc bo cau kien phu (SkipNames)</a:t>
            </a:r>
            <a:endParaRPr lang="en-US" sz="1150" b="1">
              <a:solidFill>
                <a:srgbClr val="F8FAFC"/>
              </a:solidFill>
              <a:latin typeface="Segoe UI" panose="020B0502040204020203" pitchFamily="34" charset="0"/>
            </a:endParaRPr>
          </a:p>
        </p:txBody>
      </p:sp>
      <p:sp>
        <p:nvSpPr>
          <p:cNvPr id="14" name="TextBox 13"/>
          <p:cNvSpPr txBox="1"/>
          <p:nvPr/>
        </p:nvSpPr>
        <p:spPr>
          <a:xfrm>
            <a:off x="5448300" y="2019300"/>
            <a:ext cx="5930900" cy="630942"/>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??Bo qua cac chi tiet khong can kiem va cham voi thep: bu long, lan can tam, tai cau, thang leo, moi han...
??Danh sach mac dinh: Bolt assembly, SAFETY_BAR, LUG, LADDER, SAFETY_HOOK, VBRACE, WELD_COUPLER, CHECK_COUPLER.
??Ho tro tu khoa cach nhau boi dau cach, xuong dong hoac dau phay.</a:t>
            </a:r>
            <a:endParaRPr lang="en-US" sz="950">
              <a:solidFill>
                <a:srgbClr val="CBD5E1"/>
              </a:solidFill>
              <a:latin typeface="Segoe UI" panose="020B0502040204020203" pitchFamily="34" charset="0"/>
            </a:endParaRPr>
          </a:p>
        </p:txBody>
      </p:sp>
      <p:sp>
        <p:nvSpPr>
          <p:cNvPr id="15" name="Rounded Rectangle 14"/>
          <p:cNvSpPr/>
          <p:nvPr/>
        </p:nvSpPr>
        <p:spPr>
          <a:xfrm>
            <a:off x="635000" y="3683000"/>
            <a:ext cx="5334000" cy="2413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 Rectangle 15"/>
          <p:cNvSpPr/>
          <p:nvPr/>
        </p:nvSpPr>
        <p:spPr>
          <a:xfrm>
            <a:off x="673100" y="3746500"/>
            <a:ext cx="50800" cy="2286000"/>
          </a:xfrm>
          <a:prstGeom prst="roundRect">
            <a:avLst/>
          </a:prstGeom>
          <a:solidFill>
            <a:srgbClr val="38BDF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p:cNvSpPr/>
          <p:nvPr/>
        </p:nvSpPr>
        <p:spPr>
          <a:xfrm>
            <a:off x="812800" y="3810000"/>
            <a:ext cx="1511300" cy="254000"/>
          </a:xfrm>
          <a:prstGeom prst="roundRect">
            <a:avLst/>
          </a:prstGeom>
          <a:solidFill>
            <a:srgbClr val="18212F"/>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8BDF8"/>
                </a:solidFill>
                <a:latin typeface="Segoe UI" panose="020B0502040204020203" pitchFamily="34" charset="0"/>
              </a:rPr>
              <a:t>3-LAYER FILTER</a:t>
            </a:r>
            <a:endParaRPr lang="en-US" sz="900" b="1">
              <a:solidFill>
                <a:srgbClr val="38BDF8"/>
              </a:solidFill>
              <a:latin typeface="Segoe UI" panose="020B0502040204020203" pitchFamily="34" charset="0"/>
            </a:endParaRPr>
          </a:p>
        </p:txBody>
      </p:sp>
      <p:sp>
        <p:nvSpPr>
          <p:cNvPr id="18" name="TextBox 17"/>
          <p:cNvSpPr txBox="1"/>
          <p:nvPr/>
        </p:nvSpPr>
        <p:spPr>
          <a:xfrm>
            <a:off x="2425700" y="3797300"/>
            <a:ext cx="3467100" cy="223138"/>
          </a:xfrm>
          <a:prstGeom prst="rect">
            <a:avLst/>
          </a:prstGeom>
          <a:noFill/>
        </p:spPr>
        <p:txBody>
          <a:bodyPr vert="horz" lIns="0" tIns="0" rtlCol="0">
            <a:spAutoFit/>
          </a:bodyPr>
          <a:lstStyle/>
          <a:p>
            <a:r>
              <a:rPr lang="it-IT" sz="1150" b="1" smtClean="0">
                <a:solidFill>
                  <a:srgbClr val="F8FAFC"/>
                </a:solidFill>
                <a:latin typeface="Segoe UI" panose="020B0502040204020203" pitchFamily="34" charset="0"/>
              </a:rPr>
              <a:t>Co Che Loc 3 Tang Triet De</a:t>
            </a:r>
            <a:endParaRPr lang="en-US" sz="1150" b="1">
              <a:solidFill>
                <a:srgbClr val="F8FAFC"/>
              </a:solidFill>
              <a:latin typeface="Segoe UI" panose="020B0502040204020203" pitchFamily="34" charset="0"/>
            </a:endParaRPr>
          </a:p>
        </p:txBody>
      </p:sp>
      <p:sp>
        <p:nvSpPr>
          <p:cNvPr id="19" name="TextBox 18"/>
          <p:cNvSpPr txBox="1"/>
          <p:nvPr/>
        </p:nvSpPr>
        <p:spPr>
          <a:xfrm>
            <a:off x="812800" y="4114800"/>
            <a:ext cx="4978400" cy="923330"/>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1. Tang 1: Loc ngay khi trich xuat file IFC trong IfcConvert C++ Engine (tiet kiem 60% bo nho RAM).
2. Tang 2: Loc o Broad-phase khi phan tich hop bao AABB.
3. Tang 3: Loc o Narrow-phase dam bao 100% khong sot cau kien nao nam trong SkipNames.
??Nut Mac dinh: Khoi phuc danh sach tu khoa chuan ban dau.</a:t>
            </a:r>
            <a:endParaRPr lang="en-US" sz="950">
              <a:solidFill>
                <a:srgbClr val="CBD5E1"/>
              </a:solidFill>
              <a:latin typeface="Segoe UI" panose="020B0502040204020203" pitchFamily="34" charset="0"/>
            </a:endParaRPr>
          </a:p>
        </p:txBody>
      </p:sp>
      <p:sp>
        <p:nvSpPr>
          <p:cNvPr id="20" name="Rounded Rectangle 19"/>
          <p:cNvSpPr/>
          <p:nvPr/>
        </p:nvSpPr>
        <p:spPr>
          <a:xfrm>
            <a:off x="6223000" y="3683000"/>
            <a:ext cx="5334000" cy="2413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p:cNvSpPr/>
          <p:nvPr/>
        </p:nvSpPr>
        <p:spPr>
          <a:xfrm>
            <a:off x="6261100" y="3746500"/>
            <a:ext cx="50800" cy="2286000"/>
          </a:xfrm>
          <a:prstGeom prst="roundRect">
            <a:avLst/>
          </a:prstGeom>
          <a:solidFill>
            <a:srgbClr val="A855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p:nvSpPr>
        <p:spPr>
          <a:xfrm>
            <a:off x="6400800" y="3810000"/>
            <a:ext cx="965200" cy="254000"/>
          </a:xfrm>
          <a:prstGeom prst="roundRect">
            <a:avLst/>
          </a:prstGeom>
          <a:solidFill>
            <a:srgbClr val="18212F"/>
          </a:solidFill>
          <a:ln w="12700">
            <a:solidFill>
              <a:srgbClr val="A855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A855F7"/>
                </a:solidFill>
                <a:latin typeface="Segoe UI" panose="020B0502040204020203" pitchFamily="34" charset="0"/>
              </a:rPr>
              <a:t>ONLYNAMES</a:t>
            </a:r>
            <a:endParaRPr lang="en-US" sz="900" b="1">
              <a:solidFill>
                <a:srgbClr val="A855F7"/>
              </a:solidFill>
              <a:latin typeface="Segoe UI" panose="020B0502040204020203" pitchFamily="34" charset="0"/>
            </a:endParaRPr>
          </a:p>
        </p:txBody>
      </p:sp>
      <p:sp>
        <p:nvSpPr>
          <p:cNvPr id="23" name="TextBox 22"/>
          <p:cNvSpPr txBox="1"/>
          <p:nvPr/>
        </p:nvSpPr>
        <p:spPr>
          <a:xfrm>
            <a:off x="7467600" y="3797300"/>
            <a:ext cx="4013200" cy="223138"/>
          </a:xfrm>
          <a:prstGeom prst="rect">
            <a:avLst/>
          </a:prstGeom>
          <a:noFill/>
        </p:spPr>
        <p:txBody>
          <a:bodyPr vert="horz" lIns="0" tIns="0" rtlCol="0">
            <a:spAutoFit/>
          </a:bodyPr>
          <a:lstStyle/>
          <a:p>
            <a:r>
              <a:rPr lang="it-IT" sz="1150" b="1" smtClean="0">
                <a:solidFill>
                  <a:srgbClr val="F8FAFC"/>
                </a:solidFill>
                <a:latin typeface="Segoe UI" panose="020B0502040204020203" pitchFamily="34" charset="0"/>
              </a:rPr>
              <a:t>Chi Quet Cau Kien Chi Dinh (OnlyNames)</a:t>
            </a:r>
            <a:endParaRPr lang="en-US" sz="1150" b="1">
              <a:solidFill>
                <a:srgbClr val="F8FAFC"/>
              </a:solidFill>
              <a:latin typeface="Segoe UI" panose="020B0502040204020203" pitchFamily="34" charset="0"/>
            </a:endParaRPr>
          </a:p>
        </p:txBody>
      </p:sp>
      <p:sp>
        <p:nvSpPr>
          <p:cNvPr id="24" name="TextBox 23"/>
          <p:cNvSpPr txBox="1"/>
          <p:nvPr/>
        </p:nvSpPr>
        <p:spPr>
          <a:xfrm>
            <a:off x="6400800" y="4114800"/>
            <a:ext cx="4978400" cy="777136"/>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??Khi tich chon, cong cu CHI kiem tra va cham voi cac cau kien IFC co ten chua tu khoa chi dinh.
??Vi du dien hinh: Nhap BEAM, COLUMN, SLAB, WALL, PIPE khi chi muon quet voi Dam, Cot, San hoac Duong ong chinh.
??Nut Xoa trang: De dang lam trong de chuyen ve che do quet tat ca.</a:t>
            </a:r>
            <a:endParaRPr lang="en-US" sz="950">
              <a:solidFill>
                <a:srgbClr val="CBD5E1"/>
              </a:solidFill>
              <a:latin typeface="Segoe UI" panose="020B0502040204020203" pitchFamily="34" charset="0"/>
            </a:endParaRPr>
          </a:p>
        </p:txBody>
      </p:sp>
    </p:spTree>
    <p:extLst>
      <p:ext uri="{BB962C8B-B14F-4D97-AF65-F5344CB8AC3E}">
        <p14:creationId xmlns:p14="http://schemas.microsoft.com/office/powerpoint/2010/main" val="5291361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a:off x="635000" y="304800"/>
            <a:ext cx="2946400" cy="304800"/>
          </a:xfrm>
          <a:prstGeom prst="roundRect">
            <a:avLst/>
          </a:prstGeom>
          <a:solidFill>
            <a:srgbClr val="1E293B"/>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50" b="1" smtClean="0">
                <a:solidFill>
                  <a:srgbClr val="38BDF8"/>
                </a:solidFill>
                <a:latin typeface="Segoe UI" panose="020B0502040204020203" pitchFamily="34" charset="0"/>
              </a:rPr>
              <a:t>BUOC 5: TRUC QUAN HOA &amp; BAO CAO</a:t>
            </a:r>
            <a:endParaRPr lang="en-US" sz="950" b="1">
              <a:solidFill>
                <a:srgbClr val="38BDF8"/>
              </a:solidFill>
              <a:latin typeface="Segoe UI" panose="020B0502040204020203" pitchFamily="34" charset="0"/>
            </a:endParaRPr>
          </a:p>
        </p:txBody>
      </p:sp>
      <p:sp>
        <p:nvSpPr>
          <p:cNvPr id="4" name="TextBox 3"/>
          <p:cNvSpPr txBox="1"/>
          <p:nvPr/>
        </p:nvSpPr>
        <p:spPr>
          <a:xfrm>
            <a:off x="635000" y="660400"/>
            <a:ext cx="10922000" cy="353943"/>
          </a:xfrm>
          <a:prstGeom prst="rect">
            <a:avLst/>
          </a:prstGeom>
          <a:noFill/>
        </p:spPr>
        <p:txBody>
          <a:bodyPr vert="horz" lIns="0" tIns="0" rtlCol="0">
            <a:spAutoFit/>
          </a:bodyPr>
          <a:lstStyle/>
          <a:p>
            <a:r>
              <a:rPr lang="en-US" sz="2000" b="1" smtClean="0">
                <a:solidFill>
                  <a:srgbClr val="F8FAFC"/>
                </a:solidFill>
                <a:latin typeface="Segoe UI" panose="020B0502040204020203" pitchFamily="34" charset="0"/>
              </a:rPr>
              <a:t>Bang ket qua thong minh &amp; Tuong tac 3D hai chieu voi Tekla</a:t>
            </a:r>
            <a:endParaRPr lang="en-US" sz="2000" b="1">
              <a:solidFill>
                <a:srgbClr val="F8FAFC"/>
              </a:solidFill>
              <a:latin typeface="Segoe UI" panose="020B0502040204020203" pitchFamily="34" charset="0"/>
            </a:endParaRPr>
          </a:p>
        </p:txBody>
      </p:sp>
      <p:sp>
        <p:nvSpPr>
          <p:cNvPr id="5" name="TextBox 4"/>
          <p:cNvSpPr txBox="1"/>
          <p:nvPr/>
        </p:nvSpPr>
        <p:spPr>
          <a:xfrm>
            <a:off x="635000" y="1117600"/>
            <a:ext cx="10922000" cy="215444"/>
          </a:xfrm>
          <a:prstGeom prst="rect">
            <a:avLst/>
          </a:prstGeom>
          <a:noFill/>
        </p:spPr>
        <p:txBody>
          <a:bodyPr vert="horz" lIns="0" tIns="0" rtlCol="0">
            <a:spAutoFit/>
          </a:bodyPr>
          <a:lstStyle/>
          <a:p>
            <a:r>
              <a:rPr lang="en-US" sz="1100" smtClean="0">
                <a:solidFill>
                  <a:srgbClr val="94A3B8"/>
                </a:solidFill>
                <a:latin typeface="Segoe UI" panose="020B0502040204020203" pitchFamily="34" charset="0"/>
              </a:rPr>
              <a:t>Truc quan hoa tuc thi moi thong so va cham va lien ket camera 3D chuan xac</a:t>
            </a:r>
            <a:endParaRPr lang="en-US" sz="1100">
              <a:solidFill>
                <a:srgbClr val="94A3B8"/>
              </a:solidFill>
              <a:latin typeface="Segoe UI" panose="020B0502040204020203" pitchFamily="34" charset="0"/>
            </a:endParaRPr>
          </a:p>
        </p:txBody>
      </p:sp>
      <p:sp>
        <p:nvSpPr>
          <p:cNvPr id="6" name="TextBox 5"/>
          <p:cNvSpPr txBox="1"/>
          <p:nvPr/>
        </p:nvSpPr>
        <p:spPr>
          <a:xfrm>
            <a:off x="635000" y="6527800"/>
            <a:ext cx="10922000" cy="223138"/>
          </a:xfrm>
          <a:prstGeom prst="rect">
            <a:avLst/>
          </a:prstGeom>
          <a:noFill/>
        </p:spPr>
        <p:txBody>
          <a:bodyPr vert="horz" lIns="0" rtlCol="0">
            <a:spAutoFit/>
          </a:bodyPr>
          <a:lstStyle/>
          <a:p>
            <a:r>
              <a:rPr lang="en-US" sz="850" smtClean="0">
                <a:solidFill>
                  <a:srgbClr val="334155"/>
                </a:solidFill>
                <a:latin typeface="Segoe UI" panose="020B0502040204020203" pitchFamily="34" charset="0"/>
              </a:rPr>
              <a:t>TEKLA STRUCTURES ADDIN - CLASH CHECK (REBAR VS IFC) - VIET (BIM &amp; SHOP) 2026</a:t>
            </a:r>
            <a:endParaRPr lang="en-US" sz="850">
              <a:solidFill>
                <a:srgbClr val="334155"/>
              </a:solidFill>
              <a:latin typeface="Segoe UI" panose="020B0502040204020203" pitchFamily="34" charset="0"/>
            </a:endParaRPr>
          </a:p>
        </p:txBody>
      </p:sp>
      <p:sp>
        <p:nvSpPr>
          <p:cNvPr id="7" name="Rounded Rectangle 6"/>
          <p:cNvSpPr/>
          <p:nvPr/>
        </p:nvSpPr>
        <p:spPr>
          <a:xfrm>
            <a:off x="584200" y="1536700"/>
            <a:ext cx="11023600" cy="2921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p:cNvPicPr>
            <a:picLocks/>
          </p:cNvPicPr>
          <p:nvPr/>
        </p:nvPicPr>
        <p:blipFill>
          <a:blip r:embed="rId2">
            <a:extLst>
              <a:ext uri="{28A0092B-C50C-407E-A947-70E740481C1C}">
                <a14:useLocalDpi xmlns:a14="http://schemas.microsoft.com/office/drawing/2010/main" val="0"/>
              </a:ext>
            </a:extLst>
          </a:blip>
          <a:stretch>
            <a:fillRect/>
          </a:stretch>
        </p:blipFill>
        <p:spPr>
          <a:xfrm>
            <a:off x="635000" y="1587500"/>
            <a:ext cx="10922000" cy="2540000"/>
          </a:xfrm>
          <a:prstGeom prst="rect">
            <a:avLst/>
          </a:prstGeom>
          <a:ln w="12700">
            <a:solidFill>
              <a:schemeClr val="tx1"/>
            </a:solidFill>
          </a:ln>
        </p:spPr>
      </p:pic>
      <p:sp>
        <p:nvSpPr>
          <p:cNvPr id="9" name="TextBox 8"/>
          <p:cNvSpPr txBox="1"/>
          <p:nvPr/>
        </p:nvSpPr>
        <p:spPr>
          <a:xfrm>
            <a:off x="635000" y="4191000"/>
            <a:ext cx="10922000" cy="176972"/>
          </a:xfrm>
          <a:prstGeom prst="rect">
            <a:avLst/>
          </a:prstGeom>
          <a:noFill/>
        </p:spPr>
        <p:txBody>
          <a:bodyPr vert="horz" lIns="0" tIns="0" rtlCol="0">
            <a:spAutoFit/>
          </a:bodyPr>
          <a:lstStyle/>
          <a:p>
            <a:pPr algn="ctr"/>
            <a:r>
              <a:rPr lang="en-US" sz="850" i="1" smtClean="0">
                <a:solidFill>
                  <a:srgbClr val="94A3B8"/>
                </a:solidFill>
                <a:latin typeface="Segoe UI" panose="020B0502040204020203" pitchFamily="34" charset="0"/>
              </a:rPr>
              <a:t>Bang ket qua va cham chi tiet voi phan cap mau sac muc do (Severe / Medium / Minor)</a:t>
            </a:r>
            <a:endParaRPr lang="en-US" sz="850" i="1">
              <a:solidFill>
                <a:srgbClr val="94A3B8"/>
              </a:solidFill>
              <a:latin typeface="Segoe UI" panose="020B0502040204020203" pitchFamily="34" charset="0"/>
            </a:endParaRPr>
          </a:p>
        </p:txBody>
      </p:sp>
      <p:sp>
        <p:nvSpPr>
          <p:cNvPr id="10" name="Rounded Rectangle 9"/>
          <p:cNvSpPr/>
          <p:nvPr/>
        </p:nvSpPr>
        <p:spPr>
          <a:xfrm>
            <a:off x="635000" y="4445000"/>
            <a:ext cx="3429000" cy="1714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p:cNvSpPr/>
          <p:nvPr/>
        </p:nvSpPr>
        <p:spPr>
          <a:xfrm>
            <a:off x="673100" y="4508500"/>
            <a:ext cx="50800" cy="1587500"/>
          </a:xfrm>
          <a:prstGeom prst="roundRect">
            <a:avLst/>
          </a:prstGeom>
          <a:solidFill>
            <a:srgbClr val="38BDF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p:nvSpPr>
        <p:spPr>
          <a:xfrm>
            <a:off x="812800" y="4572000"/>
            <a:ext cx="1295400" cy="254000"/>
          </a:xfrm>
          <a:prstGeom prst="roundRect">
            <a:avLst/>
          </a:prstGeom>
          <a:solidFill>
            <a:srgbClr val="18212F"/>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8BDF8"/>
                </a:solidFill>
                <a:latin typeface="Segoe UI" panose="020B0502040204020203" pitchFamily="34" charset="0"/>
              </a:rPr>
              <a:t>DOUBLE CLICK</a:t>
            </a:r>
            <a:endParaRPr lang="en-US" sz="900" b="1">
              <a:solidFill>
                <a:srgbClr val="38BDF8"/>
              </a:solidFill>
              <a:latin typeface="Segoe UI" panose="020B0502040204020203" pitchFamily="34" charset="0"/>
            </a:endParaRPr>
          </a:p>
        </p:txBody>
      </p:sp>
      <p:sp>
        <p:nvSpPr>
          <p:cNvPr id="13" name="TextBox 12"/>
          <p:cNvSpPr txBox="1"/>
          <p:nvPr/>
        </p:nvSpPr>
        <p:spPr>
          <a:xfrm>
            <a:off x="2209800" y="4559300"/>
            <a:ext cx="17780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Zoom &amp; Chon Cau Kien</a:t>
            </a:r>
            <a:endParaRPr lang="en-US" sz="1150" b="1">
              <a:solidFill>
                <a:srgbClr val="F8FAFC"/>
              </a:solidFill>
              <a:latin typeface="Segoe UI" panose="020B0502040204020203" pitchFamily="34" charset="0"/>
            </a:endParaRPr>
          </a:p>
        </p:txBody>
      </p:sp>
      <p:sp>
        <p:nvSpPr>
          <p:cNvPr id="14" name="TextBox 13"/>
          <p:cNvSpPr txBox="1"/>
          <p:nvPr/>
        </p:nvSpPr>
        <p:spPr>
          <a:xfrm>
            <a:off x="812800" y="4876800"/>
            <a:ext cx="3073400" cy="777136"/>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??Nhap dup chuot vao bat ky dong nao trong bang (hoac bam nut Zoom &amp; Chon).
??Camera 3D Tekla tu dong lia sat vao diem va cham.
??Thanh thep bi va cham duoc tu dong Select noi bat tren mo hinh.</a:t>
            </a:r>
            <a:endParaRPr lang="en-US" sz="950">
              <a:solidFill>
                <a:srgbClr val="CBD5E1"/>
              </a:solidFill>
              <a:latin typeface="Segoe UI" panose="020B0502040204020203" pitchFamily="34" charset="0"/>
            </a:endParaRPr>
          </a:p>
        </p:txBody>
      </p:sp>
      <p:sp>
        <p:nvSpPr>
          <p:cNvPr id="15" name="Rounded Rectangle 14"/>
          <p:cNvSpPr/>
          <p:nvPr/>
        </p:nvSpPr>
        <p:spPr>
          <a:xfrm>
            <a:off x="4381500" y="4445000"/>
            <a:ext cx="3429000" cy="1714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 Rectangle 15"/>
          <p:cNvSpPr/>
          <p:nvPr/>
        </p:nvSpPr>
        <p:spPr>
          <a:xfrm>
            <a:off x="4419600" y="4508500"/>
            <a:ext cx="50800" cy="1587500"/>
          </a:xfrm>
          <a:prstGeom prst="roundRect">
            <a:avLst/>
          </a:prstGeom>
          <a:solidFill>
            <a:srgbClr val="FBBF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p:cNvSpPr/>
          <p:nvPr/>
        </p:nvSpPr>
        <p:spPr>
          <a:xfrm>
            <a:off x="4559300" y="4572000"/>
            <a:ext cx="1193800" cy="254000"/>
          </a:xfrm>
          <a:prstGeom prst="roundRect">
            <a:avLst/>
          </a:prstGeom>
          <a:solidFill>
            <a:srgbClr val="18212F"/>
          </a:solidFill>
          <a:ln w="12700">
            <a:solidFill>
              <a:srgbClr val="FBBF2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FBBF24"/>
                </a:solidFill>
                <a:latin typeface="Segoe UI" panose="020B0502040204020203" pitchFamily="34" charset="0"/>
              </a:rPr>
              <a:t>GRAPHICS 3D</a:t>
            </a:r>
            <a:endParaRPr lang="en-US" sz="900" b="1">
              <a:solidFill>
                <a:srgbClr val="FBBF24"/>
              </a:solidFill>
              <a:latin typeface="Segoe UI" panose="020B0502040204020203" pitchFamily="34" charset="0"/>
            </a:endParaRPr>
          </a:p>
        </p:txBody>
      </p:sp>
      <p:sp>
        <p:nvSpPr>
          <p:cNvPr id="18" name="TextBox 17"/>
          <p:cNvSpPr txBox="1"/>
          <p:nvPr/>
        </p:nvSpPr>
        <p:spPr>
          <a:xfrm>
            <a:off x="5854700" y="4559300"/>
            <a:ext cx="1879600" cy="400110"/>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Danh Dau Hop Lap Phuong</a:t>
            </a:r>
            <a:endParaRPr lang="en-US" sz="1150" b="1">
              <a:solidFill>
                <a:srgbClr val="F8FAFC"/>
              </a:solidFill>
              <a:latin typeface="Segoe UI" panose="020B0502040204020203" pitchFamily="34" charset="0"/>
            </a:endParaRPr>
          </a:p>
        </p:txBody>
      </p:sp>
      <p:sp>
        <p:nvSpPr>
          <p:cNvPr id="19" name="TextBox 18"/>
          <p:cNvSpPr txBox="1"/>
          <p:nvPr/>
        </p:nvSpPr>
        <p:spPr>
          <a:xfrm>
            <a:off x="4559300" y="4876800"/>
            <a:ext cx="3073400" cy="777136"/>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??Bam nut Danh dau 3D: Ve khoi hop lap phuong 3D mau do noi bat tai tat ca diem va cham.
??Dau cheo tren nap hop de quan sat tu tren cao.
??Bam Xoa 3D: Don sach tuc thi ma khong giat lag man hinh.</a:t>
            </a:r>
            <a:endParaRPr lang="en-US" sz="950">
              <a:solidFill>
                <a:srgbClr val="CBD5E1"/>
              </a:solidFill>
              <a:latin typeface="Segoe UI" panose="020B0502040204020203" pitchFamily="34" charset="0"/>
            </a:endParaRPr>
          </a:p>
        </p:txBody>
      </p:sp>
      <p:sp>
        <p:nvSpPr>
          <p:cNvPr id="20" name="Rounded Rectangle 19"/>
          <p:cNvSpPr/>
          <p:nvPr/>
        </p:nvSpPr>
        <p:spPr>
          <a:xfrm>
            <a:off x="8128000" y="4445000"/>
            <a:ext cx="3429000" cy="1714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p:cNvSpPr/>
          <p:nvPr/>
        </p:nvSpPr>
        <p:spPr>
          <a:xfrm>
            <a:off x="8166100" y="4508500"/>
            <a:ext cx="50800" cy="1587500"/>
          </a:xfrm>
          <a:prstGeom prst="roundRect">
            <a:avLst/>
          </a:prstGeom>
          <a:solidFill>
            <a:srgbClr val="34D39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p:nvSpPr>
        <p:spPr>
          <a:xfrm>
            <a:off x="8305800" y="4572000"/>
            <a:ext cx="889000" cy="254000"/>
          </a:xfrm>
          <a:prstGeom prst="roundRect">
            <a:avLst/>
          </a:prstGeom>
          <a:solidFill>
            <a:srgbClr val="18212F"/>
          </a:solidFill>
          <a:ln w="12700">
            <a:solidFill>
              <a:srgbClr val="34D3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4D399"/>
                </a:solidFill>
                <a:latin typeface="Segoe UI" panose="020B0502040204020203" pitchFamily="34" charset="0"/>
              </a:rPr>
              <a:t>REPORT</a:t>
            </a:r>
            <a:endParaRPr lang="en-US" sz="900" b="1">
              <a:solidFill>
                <a:srgbClr val="34D399"/>
              </a:solidFill>
              <a:latin typeface="Segoe UI" panose="020B0502040204020203" pitchFamily="34" charset="0"/>
            </a:endParaRPr>
          </a:p>
        </p:txBody>
      </p:sp>
      <p:sp>
        <p:nvSpPr>
          <p:cNvPr id="23" name="TextBox 22"/>
          <p:cNvSpPr txBox="1"/>
          <p:nvPr/>
        </p:nvSpPr>
        <p:spPr>
          <a:xfrm>
            <a:off x="9296400" y="4559300"/>
            <a:ext cx="21844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Xuat Bao Cao Excel/CSV</a:t>
            </a:r>
            <a:endParaRPr lang="en-US" sz="1150" b="1">
              <a:solidFill>
                <a:srgbClr val="F8FAFC"/>
              </a:solidFill>
              <a:latin typeface="Segoe UI" panose="020B0502040204020203" pitchFamily="34" charset="0"/>
            </a:endParaRPr>
          </a:p>
        </p:txBody>
      </p:sp>
      <p:sp>
        <p:nvSpPr>
          <p:cNvPr id="24" name="TextBox 23"/>
          <p:cNvSpPr txBox="1"/>
          <p:nvPr/>
        </p:nvSpPr>
        <p:spPr>
          <a:xfrm>
            <a:off x="8305800" y="4876800"/>
            <a:ext cx="3073400" cy="630942"/>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??Bam nut Xuat bao cao Excel/CSV.
??Xuat bang ma UTF-8 chuan tieng Viet.
??Day du 14 cot du lieu: ID thep, Mac thep, Chieu dai, Do lan (mm), Cau kien Part, Cau kien IFC, Toa do X, Y, Z.</a:t>
            </a:r>
            <a:endParaRPr lang="en-US" sz="950">
              <a:solidFill>
                <a:srgbClr val="CBD5E1"/>
              </a:solidFill>
              <a:latin typeface="Segoe UI" panose="020B0502040204020203" pitchFamily="34" charset="0"/>
            </a:endParaRPr>
          </a:p>
        </p:txBody>
      </p:sp>
    </p:spTree>
    <p:extLst>
      <p:ext uri="{BB962C8B-B14F-4D97-AF65-F5344CB8AC3E}">
        <p14:creationId xmlns:p14="http://schemas.microsoft.com/office/powerpoint/2010/main" val="2690381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a:off x="635000" y="304800"/>
            <a:ext cx="3327400" cy="304800"/>
          </a:xfrm>
          <a:prstGeom prst="roundRect">
            <a:avLst/>
          </a:prstGeom>
          <a:solidFill>
            <a:srgbClr val="1E293B"/>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50" b="1" smtClean="0">
                <a:solidFill>
                  <a:srgbClr val="38BDF8"/>
                </a:solidFill>
                <a:latin typeface="Segoe UI" panose="020B0502040204020203" pitchFamily="34" charset="0"/>
              </a:rPr>
              <a:t>TINH NANG MOI: KIEM DUYET HANG LOAT</a:t>
            </a:r>
            <a:endParaRPr lang="en-US" sz="950" b="1">
              <a:solidFill>
                <a:srgbClr val="38BDF8"/>
              </a:solidFill>
              <a:latin typeface="Segoe UI" panose="020B0502040204020203" pitchFamily="34" charset="0"/>
            </a:endParaRPr>
          </a:p>
        </p:txBody>
      </p:sp>
      <p:sp>
        <p:nvSpPr>
          <p:cNvPr id="4" name="TextBox 3"/>
          <p:cNvSpPr txBox="1"/>
          <p:nvPr/>
        </p:nvSpPr>
        <p:spPr>
          <a:xfrm>
            <a:off x="635000" y="660400"/>
            <a:ext cx="10922000" cy="353943"/>
          </a:xfrm>
          <a:prstGeom prst="rect">
            <a:avLst/>
          </a:prstGeom>
          <a:noFill/>
        </p:spPr>
        <p:txBody>
          <a:bodyPr vert="horz" lIns="0" tIns="0" rtlCol="0">
            <a:spAutoFit/>
          </a:bodyPr>
          <a:lstStyle/>
          <a:p>
            <a:r>
              <a:rPr lang="en-US" sz="2000" b="1" smtClean="0">
                <a:solidFill>
                  <a:srgbClr val="F8FAFC"/>
                </a:solidFill>
                <a:latin typeface="Segoe UI" panose="020B0502040204020203" pitchFamily="34" charset="0"/>
              </a:rPr>
              <a:t>Chuot phai An dong &amp; Phim tat H / Delete kiem tra mot luot</a:t>
            </a:r>
            <a:endParaRPr lang="en-US" sz="2000" b="1">
              <a:solidFill>
                <a:srgbClr val="F8FAFC"/>
              </a:solidFill>
              <a:latin typeface="Segoe UI" panose="020B0502040204020203" pitchFamily="34" charset="0"/>
            </a:endParaRPr>
          </a:p>
        </p:txBody>
      </p:sp>
      <p:sp>
        <p:nvSpPr>
          <p:cNvPr id="5" name="TextBox 4"/>
          <p:cNvSpPr txBox="1"/>
          <p:nvPr/>
        </p:nvSpPr>
        <p:spPr>
          <a:xfrm>
            <a:off x="635000" y="1117600"/>
            <a:ext cx="10922000" cy="215444"/>
          </a:xfrm>
          <a:prstGeom prst="rect">
            <a:avLst/>
          </a:prstGeom>
          <a:noFill/>
        </p:spPr>
        <p:txBody>
          <a:bodyPr vert="horz" lIns="0" tIns="0" rtlCol="0">
            <a:spAutoFit/>
          </a:bodyPr>
          <a:lstStyle/>
          <a:p>
            <a:r>
              <a:rPr lang="en-US" sz="1100" smtClean="0">
                <a:solidFill>
                  <a:srgbClr val="94A3B8"/>
                </a:solidFill>
                <a:latin typeface="Segoe UI" panose="020B0502040204020203" pitchFamily="34" charset="0"/>
              </a:rPr>
              <a:t>Quy trinh kiem duyet muot ma, loai bo tuc thi cac diem da kiem tra va tu dong chuyen dong</a:t>
            </a:r>
            <a:endParaRPr lang="en-US" sz="1100">
              <a:solidFill>
                <a:srgbClr val="94A3B8"/>
              </a:solidFill>
              <a:latin typeface="Segoe UI" panose="020B0502040204020203" pitchFamily="34" charset="0"/>
            </a:endParaRPr>
          </a:p>
        </p:txBody>
      </p:sp>
      <p:sp>
        <p:nvSpPr>
          <p:cNvPr id="6" name="TextBox 5"/>
          <p:cNvSpPr txBox="1"/>
          <p:nvPr/>
        </p:nvSpPr>
        <p:spPr>
          <a:xfrm>
            <a:off x="635000" y="6527800"/>
            <a:ext cx="10922000" cy="223138"/>
          </a:xfrm>
          <a:prstGeom prst="rect">
            <a:avLst/>
          </a:prstGeom>
          <a:noFill/>
        </p:spPr>
        <p:txBody>
          <a:bodyPr vert="horz" lIns="0" rtlCol="0">
            <a:spAutoFit/>
          </a:bodyPr>
          <a:lstStyle/>
          <a:p>
            <a:r>
              <a:rPr lang="en-US" sz="850" smtClean="0">
                <a:solidFill>
                  <a:srgbClr val="334155"/>
                </a:solidFill>
                <a:latin typeface="Segoe UI" panose="020B0502040204020203" pitchFamily="34" charset="0"/>
              </a:rPr>
              <a:t>TEKLA STRUCTURES ADDIN - CLASH CHECK (REBAR VS IFC) - VIET (BIM &amp; SHOP) 2026</a:t>
            </a:r>
            <a:endParaRPr lang="en-US" sz="850">
              <a:solidFill>
                <a:srgbClr val="334155"/>
              </a:solidFill>
              <a:latin typeface="Segoe UI" panose="020B0502040204020203" pitchFamily="34" charset="0"/>
            </a:endParaRPr>
          </a:p>
        </p:txBody>
      </p:sp>
      <p:sp>
        <p:nvSpPr>
          <p:cNvPr id="7" name="Rounded Rectangle 6"/>
          <p:cNvSpPr/>
          <p:nvPr/>
        </p:nvSpPr>
        <p:spPr>
          <a:xfrm>
            <a:off x="635000" y="1587500"/>
            <a:ext cx="5334000" cy="2159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p:cNvSpPr/>
          <p:nvPr/>
        </p:nvSpPr>
        <p:spPr>
          <a:xfrm>
            <a:off x="673100" y="1651000"/>
            <a:ext cx="50800" cy="2032000"/>
          </a:xfrm>
          <a:prstGeom prst="roundRect">
            <a:avLst/>
          </a:prstGeom>
          <a:solidFill>
            <a:srgbClr val="FBBF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 Rectangle 8"/>
          <p:cNvSpPr/>
          <p:nvPr/>
        </p:nvSpPr>
        <p:spPr>
          <a:xfrm>
            <a:off x="812800" y="1714500"/>
            <a:ext cx="1193800" cy="254000"/>
          </a:xfrm>
          <a:prstGeom prst="roundRect">
            <a:avLst/>
          </a:prstGeom>
          <a:solidFill>
            <a:srgbClr val="18212F"/>
          </a:solidFill>
          <a:ln w="12700">
            <a:solidFill>
              <a:srgbClr val="FBBF2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FBBF24"/>
                </a:solidFill>
                <a:latin typeface="Segoe UI" panose="020B0502040204020203" pitchFamily="34" charset="0"/>
              </a:rPr>
              <a:t>RIGHT CLICK</a:t>
            </a:r>
            <a:endParaRPr lang="en-US" sz="900" b="1">
              <a:solidFill>
                <a:srgbClr val="FBBF24"/>
              </a:solidFill>
              <a:latin typeface="Segoe UI" panose="020B0502040204020203" pitchFamily="34" charset="0"/>
            </a:endParaRPr>
          </a:p>
        </p:txBody>
      </p:sp>
      <p:sp>
        <p:nvSpPr>
          <p:cNvPr id="10" name="TextBox 9"/>
          <p:cNvSpPr txBox="1"/>
          <p:nvPr/>
        </p:nvSpPr>
        <p:spPr>
          <a:xfrm>
            <a:off x="2108200" y="1701800"/>
            <a:ext cx="37846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Menu Ngu Canh Chuot Phai</a:t>
            </a:r>
            <a:endParaRPr lang="en-US" sz="1150" b="1">
              <a:solidFill>
                <a:srgbClr val="F8FAFC"/>
              </a:solidFill>
              <a:latin typeface="Segoe UI" panose="020B0502040204020203" pitchFamily="34" charset="0"/>
            </a:endParaRPr>
          </a:p>
        </p:txBody>
      </p:sp>
      <p:sp>
        <p:nvSpPr>
          <p:cNvPr id="11" name="TextBox 10"/>
          <p:cNvSpPr txBox="1"/>
          <p:nvPr/>
        </p:nvSpPr>
        <p:spPr>
          <a:xfrm>
            <a:off x="812800" y="2019300"/>
            <a:ext cx="4978400" cy="923330"/>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??Nhap chuot phai vao bat ky o hoac dong nao trong bang de hien thi menu:
  - An dong nay (Da kiem tra xong) [Phim H / Delete]
  - Zoom &amp; Chon cau kien tren Tekla
  - Hien lai tat ca cac dong da an (x dong)
  - Sao chep thong tin dong va cham (Copy)
??Chuot phai lap tuc chon ngay dong do, thao tac truc quan.</a:t>
            </a:r>
            <a:endParaRPr lang="en-US" sz="950">
              <a:solidFill>
                <a:srgbClr val="CBD5E1"/>
              </a:solidFill>
              <a:latin typeface="Segoe UI" panose="020B0502040204020203" pitchFamily="34" charset="0"/>
            </a:endParaRPr>
          </a:p>
        </p:txBody>
      </p:sp>
      <p:sp>
        <p:nvSpPr>
          <p:cNvPr id="12" name="Rounded Rectangle 11"/>
          <p:cNvSpPr/>
          <p:nvPr/>
        </p:nvSpPr>
        <p:spPr>
          <a:xfrm>
            <a:off x="6223000" y="1587500"/>
            <a:ext cx="5334000" cy="2159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p:nvSpPr>
        <p:spPr>
          <a:xfrm>
            <a:off x="6261100" y="1651000"/>
            <a:ext cx="50800" cy="2032000"/>
          </a:xfrm>
          <a:prstGeom prst="roundRect">
            <a:avLst/>
          </a:prstGeom>
          <a:solidFill>
            <a:srgbClr val="38BDF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p:cNvSpPr/>
          <p:nvPr/>
        </p:nvSpPr>
        <p:spPr>
          <a:xfrm>
            <a:off x="6400800" y="1714500"/>
            <a:ext cx="889000" cy="254000"/>
          </a:xfrm>
          <a:prstGeom prst="roundRect">
            <a:avLst/>
          </a:prstGeom>
          <a:solidFill>
            <a:srgbClr val="18212F"/>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8BDF8"/>
                </a:solidFill>
                <a:latin typeface="Segoe UI" panose="020B0502040204020203" pitchFamily="34" charset="0"/>
              </a:rPr>
              <a:t>HOTKEYS</a:t>
            </a:r>
            <a:endParaRPr lang="en-US" sz="900" b="1">
              <a:solidFill>
                <a:srgbClr val="38BDF8"/>
              </a:solidFill>
              <a:latin typeface="Segoe UI" panose="020B0502040204020203" pitchFamily="34" charset="0"/>
            </a:endParaRPr>
          </a:p>
        </p:txBody>
      </p:sp>
      <p:sp>
        <p:nvSpPr>
          <p:cNvPr id="15" name="TextBox 14"/>
          <p:cNvSpPr txBox="1"/>
          <p:nvPr/>
        </p:nvSpPr>
        <p:spPr>
          <a:xfrm>
            <a:off x="7391400" y="1701800"/>
            <a:ext cx="4089400" cy="223138"/>
          </a:xfrm>
          <a:prstGeom prst="rect">
            <a:avLst/>
          </a:prstGeom>
          <a:noFill/>
        </p:spPr>
        <p:txBody>
          <a:bodyPr vert="horz" lIns="0" tIns="0" rtlCol="0">
            <a:spAutoFit/>
          </a:bodyPr>
          <a:lstStyle/>
          <a:p>
            <a:r>
              <a:rPr lang="de-DE" sz="1150" b="1" smtClean="0">
                <a:solidFill>
                  <a:srgbClr val="F8FAFC"/>
                </a:solidFill>
                <a:latin typeface="Segoe UI" panose="020B0502040204020203" pitchFamily="34" charset="0"/>
              </a:rPr>
              <a:t>Phim Tat H &amp; Delete - Duyet Sieu Toc</a:t>
            </a:r>
            <a:endParaRPr lang="en-US" sz="1150" b="1">
              <a:solidFill>
                <a:srgbClr val="F8FAFC"/>
              </a:solidFill>
              <a:latin typeface="Segoe UI" panose="020B0502040204020203" pitchFamily="34" charset="0"/>
            </a:endParaRPr>
          </a:p>
        </p:txBody>
      </p:sp>
      <p:sp>
        <p:nvSpPr>
          <p:cNvPr id="16" name="TextBox 15"/>
          <p:cNvSpPr txBox="1"/>
          <p:nvPr/>
        </p:nvSpPr>
        <p:spPr>
          <a:xfrm>
            <a:off x="6400800" y="2019300"/>
            <a:ext cx="4978400" cy="630942"/>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??Thay vi phai click chuot, ban chi can nhan phim H (Hide) hoac phim Delete tren ban phim.
??Dong va cham vua xem xet se lap tuc duoc an di.
??Con tro tu dong nhay xuong dong hien thi ke tiep, giup ban duyet 1 luot 100+ diem va cham chi trong vai phut ma khong can click chon lai!</a:t>
            </a:r>
            <a:endParaRPr lang="en-US" sz="950">
              <a:solidFill>
                <a:srgbClr val="CBD5E1"/>
              </a:solidFill>
              <a:latin typeface="Segoe UI" panose="020B0502040204020203" pitchFamily="34" charset="0"/>
            </a:endParaRPr>
          </a:p>
        </p:txBody>
      </p:sp>
      <p:sp>
        <p:nvSpPr>
          <p:cNvPr id="17" name="Rounded Rectangle 16"/>
          <p:cNvSpPr/>
          <p:nvPr/>
        </p:nvSpPr>
        <p:spPr>
          <a:xfrm>
            <a:off x="635000" y="3937000"/>
            <a:ext cx="5334000" cy="2222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ounded Rectangle 17"/>
          <p:cNvSpPr/>
          <p:nvPr/>
        </p:nvSpPr>
        <p:spPr>
          <a:xfrm>
            <a:off x="673100" y="4000500"/>
            <a:ext cx="50800" cy="2095500"/>
          </a:xfrm>
          <a:prstGeom prst="roundRect">
            <a:avLst/>
          </a:prstGeom>
          <a:solidFill>
            <a:srgbClr val="34D39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ounded Rectangle 18"/>
          <p:cNvSpPr/>
          <p:nvPr/>
        </p:nvSpPr>
        <p:spPr>
          <a:xfrm>
            <a:off x="812800" y="4064000"/>
            <a:ext cx="889000" cy="254000"/>
          </a:xfrm>
          <a:prstGeom prst="roundRect">
            <a:avLst/>
          </a:prstGeom>
          <a:solidFill>
            <a:srgbClr val="18212F"/>
          </a:solidFill>
          <a:ln w="12700">
            <a:solidFill>
              <a:srgbClr val="34D3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4D399"/>
                </a:solidFill>
                <a:latin typeface="Segoe UI" panose="020B0502040204020203" pitchFamily="34" charset="0"/>
              </a:rPr>
              <a:t>COUNTER</a:t>
            </a:r>
            <a:endParaRPr lang="en-US" sz="900" b="1">
              <a:solidFill>
                <a:srgbClr val="34D399"/>
              </a:solidFill>
              <a:latin typeface="Segoe UI" panose="020B0502040204020203" pitchFamily="34" charset="0"/>
            </a:endParaRPr>
          </a:p>
        </p:txBody>
      </p:sp>
      <p:sp>
        <p:nvSpPr>
          <p:cNvPr id="20" name="TextBox 19"/>
          <p:cNvSpPr txBox="1"/>
          <p:nvPr/>
        </p:nvSpPr>
        <p:spPr>
          <a:xfrm>
            <a:off x="1803400" y="4051300"/>
            <a:ext cx="40894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Bo Dem Tien Do Thoi Gian Thuc</a:t>
            </a:r>
            <a:endParaRPr lang="en-US" sz="1150" b="1">
              <a:solidFill>
                <a:srgbClr val="F8FAFC"/>
              </a:solidFill>
              <a:latin typeface="Segoe UI" panose="020B0502040204020203" pitchFamily="34" charset="0"/>
            </a:endParaRPr>
          </a:p>
        </p:txBody>
      </p:sp>
      <p:sp>
        <p:nvSpPr>
          <p:cNvPr id="21" name="TextBox 20"/>
          <p:cNvSpPr txBox="1"/>
          <p:nvPr/>
        </p:nvSpPr>
        <p:spPr>
          <a:xfrm>
            <a:off x="812800" y="4368800"/>
            <a:ext cx="4978400" cy="630942"/>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??Thanh trang thai goc duoi tu dong cap nhat so luong dong con lai:
  Vi du: '5 con lai / 6 tong (Da an 1)'
??Giup ky su nam bat chinh xac tien do xu ly va so luong va cham con ton dong.
??Da xu ly an toan CurrencyManager WinForms, khong bao gio loi khi an dong hien hanh.</a:t>
            </a:r>
            <a:endParaRPr lang="en-US" sz="950">
              <a:solidFill>
                <a:srgbClr val="CBD5E1"/>
              </a:solidFill>
              <a:latin typeface="Segoe UI" panose="020B0502040204020203" pitchFamily="34" charset="0"/>
            </a:endParaRPr>
          </a:p>
        </p:txBody>
      </p:sp>
      <p:sp>
        <p:nvSpPr>
          <p:cNvPr id="22" name="Rounded Rectangle 21"/>
          <p:cNvSpPr/>
          <p:nvPr/>
        </p:nvSpPr>
        <p:spPr>
          <a:xfrm>
            <a:off x="6223000" y="3937000"/>
            <a:ext cx="5334000" cy="2222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p:nvSpPr>
        <p:spPr>
          <a:xfrm>
            <a:off x="6261100" y="4000500"/>
            <a:ext cx="50800" cy="2095500"/>
          </a:xfrm>
          <a:prstGeom prst="roundRect">
            <a:avLst/>
          </a:prstGeom>
          <a:solidFill>
            <a:srgbClr val="A855F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p:cNvSpPr/>
          <p:nvPr/>
        </p:nvSpPr>
        <p:spPr>
          <a:xfrm>
            <a:off x="6400800" y="4064000"/>
            <a:ext cx="889000" cy="254000"/>
          </a:xfrm>
          <a:prstGeom prst="roundRect">
            <a:avLst/>
          </a:prstGeom>
          <a:solidFill>
            <a:srgbClr val="18212F"/>
          </a:solidFill>
          <a:ln w="12700">
            <a:solidFill>
              <a:srgbClr val="A855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A855F7"/>
                </a:solidFill>
                <a:latin typeface="Segoe UI" panose="020B0502040204020203" pitchFamily="34" charset="0"/>
              </a:rPr>
              <a:t>RESTORE</a:t>
            </a:r>
            <a:endParaRPr lang="en-US" sz="900" b="1">
              <a:solidFill>
                <a:srgbClr val="A855F7"/>
              </a:solidFill>
              <a:latin typeface="Segoe UI" panose="020B0502040204020203" pitchFamily="34" charset="0"/>
            </a:endParaRPr>
          </a:p>
        </p:txBody>
      </p:sp>
      <p:sp>
        <p:nvSpPr>
          <p:cNvPr id="25" name="TextBox 24"/>
          <p:cNvSpPr txBox="1"/>
          <p:nvPr/>
        </p:nvSpPr>
        <p:spPr>
          <a:xfrm>
            <a:off x="7391400" y="4051300"/>
            <a:ext cx="4089400" cy="223138"/>
          </a:xfrm>
          <a:prstGeom prst="rect">
            <a:avLst/>
          </a:prstGeom>
          <a:noFill/>
        </p:spPr>
        <p:txBody>
          <a:bodyPr vert="horz" lIns="0" tIns="0" rtlCol="0">
            <a:spAutoFit/>
          </a:bodyPr>
          <a:lstStyle/>
          <a:p>
            <a:r>
              <a:rPr lang="de-DE" sz="1150" b="1" smtClean="0">
                <a:solidFill>
                  <a:srgbClr val="F8FAFC"/>
                </a:solidFill>
                <a:latin typeface="Segoe UI" panose="020B0502040204020203" pitchFamily="34" charset="0"/>
              </a:rPr>
              <a:t>Khoi Phuc Danh Sach Da An De Dang</a:t>
            </a:r>
            <a:endParaRPr lang="en-US" sz="1150" b="1">
              <a:solidFill>
                <a:srgbClr val="F8FAFC"/>
              </a:solidFill>
              <a:latin typeface="Segoe UI" panose="020B0502040204020203" pitchFamily="34" charset="0"/>
            </a:endParaRPr>
          </a:p>
        </p:txBody>
      </p:sp>
      <p:sp>
        <p:nvSpPr>
          <p:cNvPr id="26" name="TextBox 25"/>
          <p:cNvSpPr txBox="1"/>
          <p:nvPr/>
        </p:nvSpPr>
        <p:spPr>
          <a:xfrm>
            <a:off x="6400800" y="4368800"/>
            <a:ext cx="4978400" cy="630942"/>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??Khi muon xem lai toan bo ket qua ban dau, nhap chuot phai va chon:
  Hien lai tat ca cac dong da an (x dong)
??Bang lap tuc hoan tra day du tat ca cac dong va cham nguyen ven.
??Menu chuot phai tu dong hien thi so luong dong dang bi an de ban tien theo doi.</a:t>
            </a:r>
            <a:endParaRPr lang="en-US" sz="950">
              <a:solidFill>
                <a:srgbClr val="CBD5E1"/>
              </a:solidFill>
              <a:latin typeface="Segoe UI" panose="020B0502040204020203" pitchFamily="34" charset="0"/>
            </a:endParaRPr>
          </a:p>
        </p:txBody>
      </p:sp>
    </p:spTree>
    <p:extLst>
      <p:ext uri="{BB962C8B-B14F-4D97-AF65-F5344CB8AC3E}">
        <p14:creationId xmlns:p14="http://schemas.microsoft.com/office/powerpoint/2010/main" val="8994281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a:off x="635000" y="304800"/>
            <a:ext cx="2794000" cy="304800"/>
          </a:xfrm>
          <a:prstGeom prst="roundRect">
            <a:avLst/>
          </a:prstGeom>
          <a:solidFill>
            <a:srgbClr val="1E293B"/>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950" b="1" smtClean="0">
                <a:solidFill>
                  <a:srgbClr val="38BDF8"/>
                </a:solidFill>
                <a:latin typeface="Segoe UI" panose="020B0502040204020203" pitchFamily="34" charset="0"/>
              </a:rPr>
              <a:t>CAU HINH &amp; LUU Y VAN HANH</a:t>
            </a:r>
            <a:endParaRPr lang="en-US" sz="950" b="1">
              <a:solidFill>
                <a:srgbClr val="38BDF8"/>
              </a:solidFill>
              <a:latin typeface="Segoe UI" panose="020B0502040204020203" pitchFamily="34" charset="0"/>
            </a:endParaRPr>
          </a:p>
        </p:txBody>
      </p:sp>
      <p:sp>
        <p:nvSpPr>
          <p:cNvPr id="4" name="TextBox 3"/>
          <p:cNvSpPr txBox="1"/>
          <p:nvPr/>
        </p:nvSpPr>
        <p:spPr>
          <a:xfrm>
            <a:off x="635000" y="660400"/>
            <a:ext cx="10922000" cy="353943"/>
          </a:xfrm>
          <a:prstGeom prst="rect">
            <a:avLst/>
          </a:prstGeom>
          <a:noFill/>
        </p:spPr>
        <p:txBody>
          <a:bodyPr vert="horz" lIns="0" tIns="0" rtlCol="0">
            <a:spAutoFit/>
          </a:bodyPr>
          <a:lstStyle/>
          <a:p>
            <a:r>
              <a:rPr lang="en-US" sz="2000" b="1" smtClean="0">
                <a:solidFill>
                  <a:srgbClr val="F8FAFC"/>
                </a:solidFill>
                <a:latin typeface="Segoe UI" panose="020B0502040204020203" pitchFamily="34" charset="0"/>
              </a:rPr>
              <a:t>Luu cai dat tu dong (Properties.Settings) &amp; Khac phuc tinh huong</a:t>
            </a:r>
            <a:endParaRPr lang="en-US" sz="2000" b="1">
              <a:solidFill>
                <a:srgbClr val="F8FAFC"/>
              </a:solidFill>
              <a:latin typeface="Segoe UI" panose="020B0502040204020203" pitchFamily="34" charset="0"/>
            </a:endParaRPr>
          </a:p>
        </p:txBody>
      </p:sp>
      <p:sp>
        <p:nvSpPr>
          <p:cNvPr id="5" name="TextBox 4"/>
          <p:cNvSpPr txBox="1"/>
          <p:nvPr/>
        </p:nvSpPr>
        <p:spPr>
          <a:xfrm>
            <a:off x="635000" y="1117600"/>
            <a:ext cx="10922000" cy="215444"/>
          </a:xfrm>
          <a:prstGeom prst="rect">
            <a:avLst/>
          </a:prstGeom>
          <a:noFill/>
        </p:spPr>
        <p:txBody>
          <a:bodyPr vert="horz" lIns="0" tIns="0" rtlCol="0">
            <a:spAutoFit/>
          </a:bodyPr>
          <a:lstStyle/>
          <a:p>
            <a:r>
              <a:rPr lang="en-US" sz="1100" smtClean="0">
                <a:solidFill>
                  <a:srgbClr val="94A3B8"/>
                </a:solidFill>
                <a:latin typeface="Segoe UI" panose="020B0502040204020203" pitchFamily="34" charset="0"/>
              </a:rPr>
              <a:t>Tu dong ghi nho cau hinh khi tat/mo va cac luu y quan trong de quet dat hieu qua cao nhat</a:t>
            </a:r>
            <a:endParaRPr lang="en-US" sz="1100">
              <a:solidFill>
                <a:srgbClr val="94A3B8"/>
              </a:solidFill>
              <a:latin typeface="Segoe UI" panose="020B0502040204020203" pitchFamily="34" charset="0"/>
            </a:endParaRPr>
          </a:p>
        </p:txBody>
      </p:sp>
      <p:sp>
        <p:nvSpPr>
          <p:cNvPr id="6" name="TextBox 5"/>
          <p:cNvSpPr txBox="1"/>
          <p:nvPr/>
        </p:nvSpPr>
        <p:spPr>
          <a:xfrm>
            <a:off x="635000" y="6527800"/>
            <a:ext cx="10922000" cy="223138"/>
          </a:xfrm>
          <a:prstGeom prst="rect">
            <a:avLst/>
          </a:prstGeom>
          <a:noFill/>
        </p:spPr>
        <p:txBody>
          <a:bodyPr vert="horz" lIns="0" rtlCol="0">
            <a:spAutoFit/>
          </a:bodyPr>
          <a:lstStyle/>
          <a:p>
            <a:r>
              <a:rPr lang="en-US" sz="850" smtClean="0">
                <a:solidFill>
                  <a:srgbClr val="334155"/>
                </a:solidFill>
                <a:latin typeface="Segoe UI" panose="020B0502040204020203" pitchFamily="34" charset="0"/>
              </a:rPr>
              <a:t>TEKLA STRUCTURES ADDIN - CLASH CHECK (REBAR VS IFC) - VIET (BIM &amp; SHOP) 2026</a:t>
            </a:r>
            <a:endParaRPr lang="en-US" sz="850">
              <a:solidFill>
                <a:srgbClr val="334155"/>
              </a:solidFill>
              <a:latin typeface="Segoe UI" panose="020B0502040204020203" pitchFamily="34" charset="0"/>
            </a:endParaRPr>
          </a:p>
        </p:txBody>
      </p:sp>
      <p:sp>
        <p:nvSpPr>
          <p:cNvPr id="7" name="Rounded Rectangle 6"/>
          <p:cNvSpPr/>
          <p:nvPr/>
        </p:nvSpPr>
        <p:spPr>
          <a:xfrm>
            <a:off x="584200" y="1536700"/>
            <a:ext cx="4419600" cy="3429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p:cNvPicPr>
            <a:picLocks/>
          </p:cNvPicPr>
          <p:nvPr/>
        </p:nvPicPr>
        <p:blipFill>
          <a:blip r:embed="rId2">
            <a:extLst>
              <a:ext uri="{28A0092B-C50C-407E-A947-70E740481C1C}">
                <a14:useLocalDpi xmlns:a14="http://schemas.microsoft.com/office/drawing/2010/main" val="0"/>
              </a:ext>
            </a:extLst>
          </a:blip>
          <a:stretch>
            <a:fillRect/>
          </a:stretch>
        </p:blipFill>
        <p:spPr>
          <a:xfrm>
            <a:off x="635000" y="1587500"/>
            <a:ext cx="4318000" cy="3048000"/>
          </a:xfrm>
          <a:prstGeom prst="rect">
            <a:avLst/>
          </a:prstGeom>
          <a:ln w="12700">
            <a:solidFill>
              <a:schemeClr val="tx1"/>
            </a:solidFill>
          </a:ln>
        </p:spPr>
      </p:pic>
      <p:sp>
        <p:nvSpPr>
          <p:cNvPr id="9" name="TextBox 8"/>
          <p:cNvSpPr txBox="1"/>
          <p:nvPr/>
        </p:nvSpPr>
        <p:spPr>
          <a:xfrm>
            <a:off x="635000" y="4699000"/>
            <a:ext cx="4318000" cy="176972"/>
          </a:xfrm>
          <a:prstGeom prst="rect">
            <a:avLst/>
          </a:prstGeom>
          <a:noFill/>
        </p:spPr>
        <p:txBody>
          <a:bodyPr vert="horz" lIns="0" tIns="0" rtlCol="0">
            <a:spAutoFit/>
          </a:bodyPr>
          <a:lstStyle/>
          <a:p>
            <a:pPr algn="ctr"/>
            <a:r>
              <a:rPr lang="en-US" sz="850" i="1" smtClean="0">
                <a:solidFill>
                  <a:srgbClr val="94A3B8"/>
                </a:solidFill>
                <a:latin typeface="Segoe UI" panose="020B0502040204020203" pitchFamily="34" charset="0"/>
              </a:rPr>
              <a:t>Luu y bat hien thi Reference Model IFC tren Tekla</a:t>
            </a:r>
            <a:endParaRPr lang="en-US" sz="850" i="1">
              <a:solidFill>
                <a:srgbClr val="94A3B8"/>
              </a:solidFill>
              <a:latin typeface="Segoe UI" panose="020B0502040204020203" pitchFamily="34" charset="0"/>
            </a:endParaRPr>
          </a:p>
        </p:txBody>
      </p:sp>
      <p:sp>
        <p:nvSpPr>
          <p:cNvPr id="10" name="Rounded Rectangle 9"/>
          <p:cNvSpPr/>
          <p:nvPr/>
        </p:nvSpPr>
        <p:spPr>
          <a:xfrm>
            <a:off x="5270500" y="1587500"/>
            <a:ext cx="6286500" cy="21590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p:cNvSpPr/>
          <p:nvPr/>
        </p:nvSpPr>
        <p:spPr>
          <a:xfrm>
            <a:off x="5308600" y="1651000"/>
            <a:ext cx="50800" cy="2032000"/>
          </a:xfrm>
          <a:prstGeom prst="roundRect">
            <a:avLst/>
          </a:prstGeom>
          <a:solidFill>
            <a:srgbClr val="38BDF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p:nvSpPr>
        <p:spPr>
          <a:xfrm>
            <a:off x="5448300" y="1714500"/>
            <a:ext cx="965200" cy="254000"/>
          </a:xfrm>
          <a:prstGeom prst="roundRect">
            <a:avLst/>
          </a:prstGeom>
          <a:solidFill>
            <a:srgbClr val="18212F"/>
          </a:solidFill>
          <a:ln w="12700">
            <a:solidFill>
              <a:srgbClr val="38BD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8BDF8"/>
                </a:solidFill>
                <a:latin typeface="Segoe UI" panose="020B0502040204020203" pitchFamily="34" charset="0"/>
              </a:rPr>
              <a:t>AUTO SAVE</a:t>
            </a:r>
            <a:endParaRPr lang="en-US" sz="900" b="1">
              <a:solidFill>
                <a:srgbClr val="38BDF8"/>
              </a:solidFill>
              <a:latin typeface="Segoe UI" panose="020B0502040204020203" pitchFamily="34" charset="0"/>
            </a:endParaRPr>
          </a:p>
        </p:txBody>
      </p:sp>
      <p:sp>
        <p:nvSpPr>
          <p:cNvPr id="13" name="TextBox 12"/>
          <p:cNvSpPr txBox="1"/>
          <p:nvPr/>
        </p:nvSpPr>
        <p:spPr>
          <a:xfrm>
            <a:off x="6515100" y="1701800"/>
            <a:ext cx="49657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Tu Dong Luu &amp; Nap Cau Hinh (Properties.Settings)</a:t>
            </a:r>
            <a:endParaRPr lang="en-US" sz="1150" b="1">
              <a:solidFill>
                <a:srgbClr val="F8FAFC"/>
              </a:solidFill>
              <a:latin typeface="Segoe UI" panose="020B0502040204020203" pitchFamily="34" charset="0"/>
            </a:endParaRPr>
          </a:p>
        </p:txBody>
      </p:sp>
      <p:sp>
        <p:nvSpPr>
          <p:cNvPr id="14" name="TextBox 13"/>
          <p:cNvSpPr txBox="1"/>
          <p:nvPr/>
        </p:nvSpPr>
        <p:spPr>
          <a:xfrm>
            <a:off x="5448300" y="2019300"/>
            <a:ext cx="5930900" cy="1069524"/>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??Moi thong so dieu khien deu duoc tu dong luu vinh vien vao Properties.Settings:
  - Pham vi thep (Dang chon / Toan bo).
  - Dung sai (mm) &amp; Khoang ho (mm).
  - Bat/tat va noi dung tu khoa SkipNames &amp; OnlyNames.
  - Danh sach cac file IFC da tich chon.
  - Kich thuoc cua so Form va trang thai phong to (Maximized).
??Khi mo lai Form, moi thiet lap duoc khoi phuc nguyen ven 100%.</a:t>
            </a:r>
            <a:endParaRPr lang="en-US" sz="950">
              <a:solidFill>
                <a:srgbClr val="CBD5E1"/>
              </a:solidFill>
              <a:latin typeface="Segoe UI" panose="020B0502040204020203" pitchFamily="34" charset="0"/>
            </a:endParaRPr>
          </a:p>
        </p:txBody>
      </p:sp>
      <p:sp>
        <p:nvSpPr>
          <p:cNvPr id="15" name="Rounded Rectangle 14"/>
          <p:cNvSpPr/>
          <p:nvPr/>
        </p:nvSpPr>
        <p:spPr>
          <a:xfrm>
            <a:off x="5270500" y="3937000"/>
            <a:ext cx="6286500" cy="2222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ounded Rectangle 15"/>
          <p:cNvSpPr/>
          <p:nvPr/>
        </p:nvSpPr>
        <p:spPr>
          <a:xfrm>
            <a:off x="5308600" y="4000500"/>
            <a:ext cx="50800" cy="2095500"/>
          </a:xfrm>
          <a:prstGeom prst="roundRect">
            <a:avLst/>
          </a:prstGeom>
          <a:solidFill>
            <a:srgbClr val="34D39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p:cNvSpPr/>
          <p:nvPr/>
        </p:nvSpPr>
        <p:spPr>
          <a:xfrm>
            <a:off x="5448300" y="4064000"/>
            <a:ext cx="1511300" cy="254000"/>
          </a:xfrm>
          <a:prstGeom prst="roundRect">
            <a:avLst/>
          </a:prstGeom>
          <a:solidFill>
            <a:srgbClr val="18212F"/>
          </a:solidFill>
          <a:ln w="12700">
            <a:solidFill>
              <a:srgbClr val="34D3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34D399"/>
                </a:solidFill>
                <a:latin typeface="Segoe UI" panose="020B0502040204020203" pitchFamily="34" charset="0"/>
              </a:rPr>
              <a:t>BEST PRACTICES</a:t>
            </a:r>
            <a:endParaRPr lang="en-US" sz="900" b="1">
              <a:solidFill>
                <a:srgbClr val="34D399"/>
              </a:solidFill>
              <a:latin typeface="Segoe UI" panose="020B0502040204020203" pitchFamily="34" charset="0"/>
            </a:endParaRPr>
          </a:p>
        </p:txBody>
      </p:sp>
      <p:sp>
        <p:nvSpPr>
          <p:cNvPr id="18" name="TextBox 17"/>
          <p:cNvSpPr txBox="1"/>
          <p:nvPr/>
        </p:nvSpPr>
        <p:spPr>
          <a:xfrm>
            <a:off x="7061200" y="4051300"/>
            <a:ext cx="44196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Nhung Luu Y Ky Thuat Quan Trong Khi Su Dung</a:t>
            </a:r>
            <a:endParaRPr lang="en-US" sz="1150" b="1">
              <a:solidFill>
                <a:srgbClr val="F8FAFC"/>
              </a:solidFill>
              <a:latin typeface="Segoe UI" panose="020B0502040204020203" pitchFamily="34" charset="0"/>
            </a:endParaRPr>
          </a:p>
        </p:txBody>
      </p:sp>
      <p:sp>
        <p:nvSpPr>
          <p:cNvPr id="19" name="TextBox 18"/>
          <p:cNvSpPr txBox="1"/>
          <p:nvPr/>
        </p:nvSpPr>
        <p:spPr>
          <a:xfrm>
            <a:off x="5448300" y="4368800"/>
            <a:ext cx="5930900" cy="777136"/>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??Trang thai Reference Model: File IFC phai duoc chen vao Tekla Structures va bieu tuong con mat hien thi phai o trang thai BAT (Visible).
??Dong goi gui nguoi khac: Chi can gui tron bo thu muc dist/ClashCheck_Tekla2020 hoac file nen ClashCheck_Tekla2020.zip (chua day du Clash-check.exe va cac file DLL phu thuoc, khong can cai dat them).
??Tuong thich muot ma tren Tekla Structures 2020, 2025, 2026.</a:t>
            </a:r>
            <a:endParaRPr lang="en-US" sz="950">
              <a:solidFill>
                <a:srgbClr val="CBD5E1"/>
              </a:solidFill>
              <a:latin typeface="Segoe UI" panose="020B0502040204020203" pitchFamily="34" charset="0"/>
            </a:endParaRPr>
          </a:p>
        </p:txBody>
      </p:sp>
      <p:sp>
        <p:nvSpPr>
          <p:cNvPr id="20" name="Rounded Rectangle 19"/>
          <p:cNvSpPr/>
          <p:nvPr/>
        </p:nvSpPr>
        <p:spPr>
          <a:xfrm>
            <a:off x="635000" y="4953000"/>
            <a:ext cx="4318000" cy="1206500"/>
          </a:xfrm>
          <a:prstGeom prst="roundRect">
            <a:avLst/>
          </a:prstGeom>
          <a:solidFill>
            <a:srgbClr val="1E293B"/>
          </a:solidFill>
          <a:ln w="12700">
            <a:solidFill>
              <a:srgbClr val="3341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p:cNvSpPr/>
          <p:nvPr/>
        </p:nvSpPr>
        <p:spPr>
          <a:xfrm>
            <a:off x="673100" y="5016500"/>
            <a:ext cx="50800" cy="1079500"/>
          </a:xfrm>
          <a:prstGeom prst="roundRect">
            <a:avLst/>
          </a:prstGeom>
          <a:solidFill>
            <a:srgbClr val="FBBF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p:nvSpPr>
        <p:spPr>
          <a:xfrm>
            <a:off x="812800" y="5080000"/>
            <a:ext cx="889000" cy="254000"/>
          </a:xfrm>
          <a:prstGeom prst="roundRect">
            <a:avLst/>
          </a:prstGeom>
          <a:solidFill>
            <a:srgbClr val="18212F"/>
          </a:solidFill>
          <a:ln w="12700">
            <a:solidFill>
              <a:srgbClr val="FBBF2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smtClean="0">
                <a:solidFill>
                  <a:srgbClr val="FBBF24"/>
                </a:solidFill>
                <a:latin typeface="Segoe UI" panose="020B0502040204020203" pitchFamily="34" charset="0"/>
              </a:rPr>
              <a:t>PACKAGE</a:t>
            </a:r>
            <a:endParaRPr lang="en-US" sz="900" b="1">
              <a:solidFill>
                <a:srgbClr val="FBBF24"/>
              </a:solidFill>
              <a:latin typeface="Segoe UI" panose="020B0502040204020203" pitchFamily="34" charset="0"/>
            </a:endParaRPr>
          </a:p>
        </p:txBody>
      </p:sp>
      <p:sp>
        <p:nvSpPr>
          <p:cNvPr id="23" name="TextBox 22"/>
          <p:cNvSpPr txBox="1"/>
          <p:nvPr/>
        </p:nvSpPr>
        <p:spPr>
          <a:xfrm>
            <a:off x="1803400" y="5067300"/>
            <a:ext cx="3073400" cy="223138"/>
          </a:xfrm>
          <a:prstGeom prst="rect">
            <a:avLst/>
          </a:prstGeom>
          <a:noFill/>
        </p:spPr>
        <p:txBody>
          <a:bodyPr vert="horz" lIns="0" tIns="0" rtlCol="0">
            <a:spAutoFit/>
          </a:bodyPr>
          <a:lstStyle/>
          <a:p>
            <a:r>
              <a:rPr lang="en-US" sz="1150" b="1" smtClean="0">
                <a:solidFill>
                  <a:srgbClr val="F8FAFC"/>
                </a:solidFill>
                <a:latin typeface="Segoe UI" panose="020B0502040204020203" pitchFamily="34" charset="0"/>
              </a:rPr>
              <a:t>Vi Tri File Dong Goi</a:t>
            </a:r>
            <a:endParaRPr lang="en-US" sz="1150" b="1">
              <a:solidFill>
                <a:srgbClr val="F8FAFC"/>
              </a:solidFill>
              <a:latin typeface="Segoe UI" panose="020B0502040204020203" pitchFamily="34" charset="0"/>
            </a:endParaRPr>
          </a:p>
        </p:txBody>
      </p:sp>
      <p:sp>
        <p:nvSpPr>
          <p:cNvPr id="24" name="TextBox 23"/>
          <p:cNvSpPr txBox="1"/>
          <p:nvPr/>
        </p:nvSpPr>
        <p:spPr>
          <a:xfrm>
            <a:off x="812800" y="5384800"/>
            <a:ext cx="3962400" cy="338554"/>
          </a:xfrm>
          <a:prstGeom prst="rect">
            <a:avLst/>
          </a:prstGeom>
          <a:noFill/>
        </p:spPr>
        <p:txBody>
          <a:bodyPr vert="horz" wrap="square" lIns="0" tIns="0" rtlCol="0">
            <a:spAutoFit/>
          </a:bodyPr>
          <a:lstStyle/>
          <a:p>
            <a:r>
              <a:rPr lang="en-US" sz="950" smtClean="0">
                <a:solidFill>
                  <a:srgbClr val="CBD5E1"/>
                </a:solidFill>
                <a:latin typeface="Segoe UI" panose="020B0502040204020203" pitchFamily="34" charset="0"/>
              </a:rPr>
              <a:t>??File nen chia se: dist\ClashCheck_Tekla2020.zip
??Slide huong dan: docs\Huong_Dan_Su_Dung_Clash_Check.pptx</a:t>
            </a:r>
            <a:endParaRPr lang="en-US" sz="950">
              <a:solidFill>
                <a:srgbClr val="CBD5E1"/>
              </a:solidFill>
              <a:latin typeface="Segoe UI" panose="020B0502040204020203" pitchFamily="34" charset="0"/>
            </a:endParaRPr>
          </a:p>
        </p:txBody>
      </p:sp>
    </p:spTree>
    <p:extLst>
      <p:ext uri="{BB962C8B-B14F-4D97-AF65-F5344CB8AC3E}">
        <p14:creationId xmlns:p14="http://schemas.microsoft.com/office/powerpoint/2010/main" val="32396294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1309</Words>
  <Application>Microsoft Office PowerPoint</Application>
  <PresentationFormat>Custom</PresentationFormat>
  <Paragraphs>116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BIM</dc:creator>
  <cp:lastModifiedBy>BIM</cp:lastModifiedBy>
  <cp:revision>1</cp:revision>
  <dcterms:created xsi:type="dcterms:W3CDTF">2026-09-23T09:01:46Z</dcterms:created>
  <dcterms:modified xsi:type="dcterms:W3CDTF">2026-09-23T09:01:46Z</dcterms:modified>
</cp:coreProperties>
</file>