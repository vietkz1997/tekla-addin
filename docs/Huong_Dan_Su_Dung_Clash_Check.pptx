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0EAE1F-20AE-4768-8738-77BAAF877D9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178426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0EAE1F-20AE-4768-8738-77BAAF877D9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228629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0EAE1F-20AE-4768-8738-77BAAF877D9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233563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0EAE1F-20AE-4768-8738-77BAAF877D9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3067940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0EAE1F-20AE-4768-8738-77BAAF877D96}"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349801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0EAE1F-20AE-4768-8738-77BAAF877D96}"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2298145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EAE1F-20AE-4768-8738-77BAAF877D96}"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295701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0EAE1F-20AE-4768-8738-77BAAF877D9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4142957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0EAE1F-20AE-4768-8738-77BAAF877D96}"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1371813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0EAE1F-20AE-4768-8738-77BAAF877D9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3051593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0EAE1F-20AE-4768-8738-77BAAF877D96}"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763EC-3CE0-41D6-BDE9-93CB9AD2F572}" type="slidenum">
              <a:rPr lang="en-US" smtClean="0"/>
              <a:t>‹#›</a:t>
            </a:fld>
            <a:endParaRPr lang="en-US"/>
          </a:p>
        </p:txBody>
      </p:sp>
    </p:spTree>
    <p:extLst>
      <p:ext uri="{BB962C8B-B14F-4D97-AF65-F5344CB8AC3E}">
        <p14:creationId xmlns:p14="http://schemas.microsoft.com/office/powerpoint/2010/main" val="2469936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0EAE1F-20AE-4768-8738-77BAAF877D96}" type="datetimeFigureOut">
              <a:rPr lang="en-US" smtClean="0"/>
              <a:t>9/24/2026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9763EC-3CE0-41D6-BDE9-93CB9AD2F572}" type="slidenum">
              <a:rPr lang="en-US" smtClean="0"/>
              <a:t>‹#›</a:t>
            </a:fld>
            <a:endParaRPr lang="en-US"/>
          </a:p>
        </p:txBody>
      </p:sp>
    </p:spTree>
    <p:extLst>
      <p:ext uri="{BB962C8B-B14F-4D97-AF65-F5344CB8AC3E}">
        <p14:creationId xmlns:p14="http://schemas.microsoft.com/office/powerpoint/2010/main" val="1927151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4" name="Oval 3"/>
          <p:cNvSpPr/>
          <p:nvPr/>
        </p:nvSpPr>
        <p:spPr>
          <a:xfrm>
            <a:off x="8128000" y="635000"/>
            <a:ext cx="3429000" cy="3429000"/>
          </a:xfrm>
          <a:prstGeom prst="ellipse">
            <a:avLst/>
          </a:prstGeom>
          <a:solidFill>
            <a:srgbClr val="E0F2FE"/>
          </a:solidFill>
          <a:ln w="19050">
            <a:solidFill>
              <a:srgbClr val="BAE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35000" y="889000"/>
            <a:ext cx="4572000" cy="381000"/>
          </a:xfrm>
          <a:prstGeom prst="roundRect">
            <a:avLst/>
          </a:prstGeom>
          <a:solidFill>
            <a:srgbClr val="FFFFFF"/>
          </a:solidFill>
          <a:ln>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smtClean="0">
                <a:solidFill>
                  <a:srgbClr val="1D4ED8"/>
                </a:solidFill>
                <a:latin typeface="Segoe UI" panose="020B0502040204020203" pitchFamily="34" charset="0"/>
              </a:rPr>
              <a:t>★ TEKLA STRUCTURES ADDIN - 2020 - 2025 - 2026</a:t>
            </a:r>
            <a:endParaRPr lang="en-US" sz="1050" b="1">
              <a:solidFill>
                <a:srgbClr val="1D4ED8"/>
              </a:solidFill>
              <a:latin typeface="Segoe UI" panose="020B0502040204020203" pitchFamily="34" charset="0"/>
            </a:endParaRPr>
          </a:p>
        </p:txBody>
      </p:sp>
      <p:sp>
        <p:nvSpPr>
          <p:cNvPr id="6" name="TextBox 5"/>
          <p:cNvSpPr txBox="1"/>
          <p:nvPr/>
        </p:nvSpPr>
        <p:spPr>
          <a:xfrm>
            <a:off x="635000" y="1397000"/>
            <a:ext cx="8890000" cy="1138773"/>
          </a:xfrm>
          <a:prstGeom prst="rect">
            <a:avLst/>
          </a:prstGeom>
          <a:noFill/>
        </p:spPr>
        <p:txBody>
          <a:bodyPr vert="horz" rtlCol="0">
            <a:spAutoFit/>
          </a:bodyPr>
          <a:lstStyle/>
          <a:p>
            <a:r>
              <a:rPr lang="en-US" sz="3400" b="1" smtClean="0">
                <a:solidFill>
                  <a:srgbClr val="0F172A"/>
                </a:solidFill>
                <a:latin typeface="Segoe UI" panose="020B0502040204020203" pitchFamily="34" charset="0"/>
              </a:rPr>
              <a:t>HƯỚNG DẪN SỬ DỤNG
TOOL CLASH-CHECK</a:t>
            </a:r>
            <a:endParaRPr lang="en-US" sz="3400" b="1">
              <a:solidFill>
                <a:srgbClr val="0F172A"/>
              </a:solidFill>
              <a:latin typeface="Segoe UI" panose="020B0502040204020203" pitchFamily="34" charset="0"/>
            </a:endParaRPr>
          </a:p>
        </p:txBody>
      </p:sp>
      <p:sp>
        <p:nvSpPr>
          <p:cNvPr id="7" name="TextBox 6"/>
          <p:cNvSpPr txBox="1"/>
          <p:nvPr/>
        </p:nvSpPr>
        <p:spPr>
          <a:xfrm>
            <a:off x="635000" y="2921000"/>
            <a:ext cx="8890000" cy="492443"/>
          </a:xfrm>
          <a:prstGeom prst="rect">
            <a:avLst/>
          </a:prstGeom>
          <a:noFill/>
        </p:spPr>
        <p:txBody>
          <a:bodyPr vert="horz" wrap="square" rtlCol="0">
            <a:spAutoFit/>
          </a:bodyPr>
          <a:lstStyle/>
          <a:p>
            <a:r>
              <a:rPr lang="en-US" sz="1300" smtClean="0">
                <a:solidFill>
                  <a:srgbClr val="334155"/>
                </a:solidFill>
                <a:latin typeface="Segoe UI" panose="020B0502040204020203" pitchFamily="34" charset="0"/>
              </a:rPr>
              <a:t>Kiểm tra va chạm và khoảng hở an toàn tự động giữa Cốt thép (Tekla Model) và Cấu kiện tham chiếu IFC (Navisworks Style tốc độ cao).</a:t>
            </a:r>
            <a:endParaRPr lang="en-US" sz="1300">
              <a:solidFill>
                <a:srgbClr val="334155"/>
              </a:solidFill>
              <a:latin typeface="Segoe UI" panose="020B0502040204020203" pitchFamily="34" charset="0"/>
            </a:endParaRPr>
          </a:p>
        </p:txBody>
      </p:sp>
      <p:sp>
        <p:nvSpPr>
          <p:cNvPr id="8" name="Rounded Rectangle 7"/>
          <p:cNvSpPr/>
          <p:nvPr/>
        </p:nvSpPr>
        <p:spPr>
          <a:xfrm>
            <a:off x="635000" y="3746500"/>
            <a:ext cx="3429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673100" y="3810000"/>
            <a:ext cx="50800" cy="2159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12800" y="3860800"/>
            <a:ext cx="8890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TỐC ĐỘ</a:t>
            </a:r>
            <a:endParaRPr lang="en-US" sz="900" b="1">
              <a:solidFill>
                <a:srgbClr val="0284C7"/>
              </a:solidFill>
              <a:latin typeface="Segoe UI" panose="020B0502040204020203" pitchFamily="34" charset="0"/>
            </a:endParaRPr>
          </a:p>
        </p:txBody>
      </p:sp>
      <p:sp>
        <p:nvSpPr>
          <p:cNvPr id="11" name="TextBox 10"/>
          <p:cNvSpPr txBox="1"/>
          <p:nvPr/>
        </p:nvSpPr>
        <p:spPr>
          <a:xfrm>
            <a:off x="1803400" y="3848100"/>
            <a:ext cx="21844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Quét Đa Luồng CPU</a:t>
            </a:r>
            <a:endParaRPr lang="en-US" sz="1150" b="1">
              <a:solidFill>
                <a:srgbClr val="0F172A"/>
              </a:solidFill>
              <a:latin typeface="Segoe UI" panose="020B0502040204020203" pitchFamily="34" charset="0"/>
            </a:endParaRPr>
          </a:p>
        </p:txBody>
      </p:sp>
      <p:sp>
        <p:nvSpPr>
          <p:cNvPr id="12" name="TextBox 11"/>
          <p:cNvSpPr txBox="1"/>
          <p:nvPr/>
        </p:nvSpPr>
        <p:spPr>
          <a:xfrm>
            <a:off x="812800" y="4152900"/>
            <a:ext cx="3073400" cy="630942"/>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 Thuật toán lọc 2 pha: Broad-phase AABB và Narrow-phase chính xác.
• Tận dụng 100% tất cả các nhân CPU máy tính.
• Quét hàng ngàn thanh thép chỉ trong vài giây.</a:t>
            </a:r>
            <a:endParaRPr lang="en-US" sz="950">
              <a:solidFill>
                <a:srgbClr val="334155"/>
              </a:solidFill>
              <a:latin typeface="Segoe UI" panose="020B0502040204020203" pitchFamily="34" charset="0"/>
            </a:endParaRPr>
          </a:p>
        </p:txBody>
      </p:sp>
      <p:sp>
        <p:nvSpPr>
          <p:cNvPr id="13" name="Rounded Rectangle 12"/>
          <p:cNvSpPr/>
          <p:nvPr/>
        </p:nvSpPr>
        <p:spPr>
          <a:xfrm>
            <a:off x="4381500" y="3746500"/>
            <a:ext cx="3429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419600" y="3810000"/>
            <a:ext cx="50800" cy="21590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4559300" y="3860800"/>
            <a:ext cx="8890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BỘ LỌC</a:t>
            </a:r>
            <a:endParaRPr lang="en-US" sz="900" b="1">
              <a:solidFill>
                <a:srgbClr val="047857"/>
              </a:solidFill>
              <a:latin typeface="Segoe UI" panose="020B0502040204020203" pitchFamily="34" charset="0"/>
            </a:endParaRPr>
          </a:p>
        </p:txBody>
      </p:sp>
      <p:sp>
        <p:nvSpPr>
          <p:cNvPr id="16" name="TextBox 15"/>
          <p:cNvSpPr txBox="1"/>
          <p:nvPr/>
        </p:nvSpPr>
        <p:spPr>
          <a:xfrm>
            <a:off x="5549900" y="3848100"/>
            <a:ext cx="21844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Bộ Lọc 3 Tầng Triệt Để</a:t>
            </a:r>
            <a:endParaRPr lang="en-US" sz="1150" b="1">
              <a:solidFill>
                <a:srgbClr val="0F172A"/>
              </a:solidFill>
              <a:latin typeface="Segoe UI" panose="020B0502040204020203" pitchFamily="34" charset="0"/>
            </a:endParaRPr>
          </a:p>
        </p:txBody>
      </p:sp>
      <p:sp>
        <p:nvSpPr>
          <p:cNvPr id="17" name="TextBox 16"/>
          <p:cNvSpPr txBox="1"/>
          <p:nvPr/>
        </p:nvSpPr>
        <p:spPr>
          <a:xfrm>
            <a:off x="4559300" y="4152900"/>
            <a:ext cx="3073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Lược bỏ chi tiết phụ (SkipNames): Bu lông, lan can, tai cẩu, mối hàn.
• Chỉ quét cấu kiện chỉ định (OnlyNames).
• Tích chọn đồng thời nhiều file IFC linh hoạt.</a:t>
            </a:r>
            <a:endParaRPr lang="en-US" sz="950">
              <a:solidFill>
                <a:srgbClr val="334155"/>
              </a:solidFill>
              <a:latin typeface="Segoe UI" panose="020B0502040204020203" pitchFamily="34" charset="0"/>
            </a:endParaRPr>
          </a:p>
        </p:txBody>
      </p:sp>
      <p:sp>
        <p:nvSpPr>
          <p:cNvPr id="18" name="Rounded Rectangle 17"/>
          <p:cNvSpPr/>
          <p:nvPr/>
        </p:nvSpPr>
        <p:spPr>
          <a:xfrm>
            <a:off x="8128000" y="3746500"/>
            <a:ext cx="3429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8166100" y="3810000"/>
            <a:ext cx="50800" cy="21590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8305800" y="3860800"/>
            <a:ext cx="10795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KIỂM DUYỆT</a:t>
            </a:r>
            <a:endParaRPr lang="en-US" sz="900" b="1">
              <a:solidFill>
                <a:srgbClr val="B45309"/>
              </a:solidFill>
              <a:latin typeface="Segoe UI" panose="020B0502040204020203" pitchFamily="34" charset="0"/>
            </a:endParaRPr>
          </a:p>
        </p:txBody>
      </p:sp>
      <p:sp>
        <p:nvSpPr>
          <p:cNvPr id="21" name="TextBox 20"/>
          <p:cNvSpPr txBox="1"/>
          <p:nvPr/>
        </p:nvSpPr>
        <p:spPr>
          <a:xfrm>
            <a:off x="9486900" y="3848100"/>
            <a:ext cx="19939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Kiểm Duyệt Nhanh 3D</a:t>
            </a:r>
            <a:endParaRPr lang="en-US" sz="1150" b="1">
              <a:solidFill>
                <a:srgbClr val="0F172A"/>
              </a:solidFill>
              <a:latin typeface="Segoe UI" panose="020B0502040204020203" pitchFamily="34" charset="0"/>
            </a:endParaRPr>
          </a:p>
        </p:txBody>
      </p:sp>
      <p:sp>
        <p:nvSpPr>
          <p:cNvPr id="22" name="TextBox 21"/>
          <p:cNvSpPr txBox="1"/>
          <p:nvPr/>
        </p:nvSpPr>
        <p:spPr>
          <a:xfrm>
            <a:off x="8305800" y="4152900"/>
            <a:ext cx="30734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Chuột phải hoặc phím H / Delete để ẩn dòng đã duyệt.
• Tự động nhảy dòng kế tiếp.
• Zoom cận cảnh và vẽ hộp lập phương 3D màu đỏ đánh dấu va chạm.</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343247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810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TỔNG QUAN GIAO DIỆN VÀ CÁC BƯỚC THAO TÁC</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Sơ đồ 7 bước thao tác trên giao diện chính của Tool</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vi-VN" sz="1050" smtClean="0">
                <a:solidFill>
                  <a:srgbClr val="64748B"/>
                </a:solidFill>
                <a:latin typeface="Segoe UI" panose="020B0502040204020203" pitchFamily="34" charset="0"/>
              </a:rPr>
              <a:t>Hình ảnh trực quan đánh dấu từng vị trí điều khiển từ Bước 1 đến Bước 7 để dễ dàng làm theo</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Rounded Rectangle 6"/>
          <p:cNvSpPr/>
          <p:nvPr/>
        </p:nvSpPr>
        <p:spPr>
          <a:xfrm>
            <a:off x="469900" y="1295400"/>
            <a:ext cx="7696200" cy="4800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p:cNvPicPr>
          <p:nvPr/>
        </p:nvPicPr>
        <p:blipFill>
          <a:blip r:embed="rId2">
            <a:extLst>
              <a:ext uri="{28A0092B-C50C-407E-A947-70E740481C1C}">
                <a14:useLocalDpi xmlns:a14="http://schemas.microsoft.com/office/drawing/2010/main" val="0"/>
              </a:ext>
            </a:extLst>
          </a:blip>
          <a:stretch>
            <a:fillRect/>
          </a:stretch>
        </p:blipFill>
        <p:spPr>
          <a:xfrm>
            <a:off x="508000" y="1333500"/>
            <a:ext cx="7620000" cy="4445000"/>
          </a:xfrm>
          <a:prstGeom prst="rect">
            <a:avLst/>
          </a:prstGeom>
          <a:ln w="12700">
            <a:solidFill>
              <a:schemeClr val="tx1"/>
            </a:solidFill>
          </a:ln>
        </p:spPr>
      </p:pic>
      <p:sp>
        <p:nvSpPr>
          <p:cNvPr id="9" name="TextBox 8"/>
          <p:cNvSpPr txBox="1"/>
          <p:nvPr/>
        </p:nvSpPr>
        <p:spPr>
          <a:xfrm>
            <a:off x="508000" y="5829300"/>
            <a:ext cx="7620000" cy="176972"/>
          </a:xfrm>
          <a:prstGeom prst="rect">
            <a:avLst/>
          </a:prstGeom>
          <a:noFill/>
        </p:spPr>
        <p:txBody>
          <a:bodyPr vert="horz" lIns="0" tIns="0" rtlCol="0">
            <a:spAutoFit/>
          </a:bodyPr>
          <a:lstStyle/>
          <a:p>
            <a:pPr algn="ctr"/>
            <a:r>
              <a:rPr lang="en-US" sz="850" i="1" smtClean="0">
                <a:solidFill>
                  <a:srgbClr val="64748B"/>
                </a:solidFill>
                <a:latin typeface="Segoe UI" panose="020B0502040204020203" pitchFamily="34" charset="0"/>
              </a:rPr>
              <a:t>Giao diện chính công cụ Tekla Clash Check với 7 vị trí điều khiển đánh số</a:t>
            </a:r>
            <a:endParaRPr lang="en-US" sz="850" i="1">
              <a:solidFill>
                <a:srgbClr val="64748B"/>
              </a:solidFill>
              <a:latin typeface="Segoe UI" panose="020B0502040204020203" pitchFamily="34" charset="0"/>
            </a:endParaRPr>
          </a:p>
        </p:txBody>
      </p:sp>
      <p:sp>
        <p:nvSpPr>
          <p:cNvPr id="10" name="Oval 9"/>
          <p:cNvSpPr/>
          <p:nvPr/>
        </p:nvSpPr>
        <p:spPr>
          <a:xfrm>
            <a:off x="1905000" y="1968500"/>
            <a:ext cx="304800" cy="304800"/>
          </a:xfrm>
          <a:prstGeom prst="ellipse">
            <a:avLst/>
          </a:prstGeom>
          <a:solidFill>
            <a:srgbClr val="0284C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1</a:t>
            </a:r>
            <a:endParaRPr lang="en-US" sz="1150" b="1">
              <a:solidFill>
                <a:srgbClr val="FFFFFF"/>
              </a:solidFill>
              <a:latin typeface="Segoe UI" panose="020B0502040204020203" pitchFamily="34" charset="0"/>
            </a:endParaRPr>
          </a:p>
        </p:txBody>
      </p:sp>
      <p:sp>
        <p:nvSpPr>
          <p:cNvPr id="11" name="Oval 10"/>
          <p:cNvSpPr/>
          <p:nvPr/>
        </p:nvSpPr>
        <p:spPr>
          <a:xfrm>
            <a:off x="3619500" y="1968500"/>
            <a:ext cx="304800" cy="304800"/>
          </a:xfrm>
          <a:prstGeom prst="ellipse">
            <a:avLst/>
          </a:prstGeom>
          <a:solidFill>
            <a:srgbClr val="04785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2</a:t>
            </a:r>
            <a:endParaRPr lang="en-US" sz="1150" b="1">
              <a:solidFill>
                <a:srgbClr val="FFFFFF"/>
              </a:solidFill>
              <a:latin typeface="Segoe UI" panose="020B0502040204020203" pitchFamily="34" charset="0"/>
            </a:endParaRPr>
          </a:p>
        </p:txBody>
      </p:sp>
      <p:sp>
        <p:nvSpPr>
          <p:cNvPr id="12" name="Oval 11"/>
          <p:cNvSpPr/>
          <p:nvPr/>
        </p:nvSpPr>
        <p:spPr>
          <a:xfrm>
            <a:off x="6096000" y="1968500"/>
            <a:ext cx="304800" cy="304800"/>
          </a:xfrm>
          <a:prstGeom prst="ellipse">
            <a:avLst/>
          </a:prstGeom>
          <a:solidFill>
            <a:srgbClr val="B45309"/>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3</a:t>
            </a:r>
            <a:endParaRPr lang="en-US" sz="1150" b="1">
              <a:solidFill>
                <a:srgbClr val="FFFFFF"/>
              </a:solidFill>
              <a:latin typeface="Segoe UI" panose="020B0502040204020203" pitchFamily="34" charset="0"/>
            </a:endParaRPr>
          </a:p>
        </p:txBody>
      </p:sp>
      <p:sp>
        <p:nvSpPr>
          <p:cNvPr id="13" name="Oval 12"/>
          <p:cNvSpPr/>
          <p:nvPr/>
        </p:nvSpPr>
        <p:spPr>
          <a:xfrm>
            <a:off x="5461000" y="2540000"/>
            <a:ext cx="304800" cy="304800"/>
          </a:xfrm>
          <a:prstGeom prst="ellipse">
            <a:avLst/>
          </a:prstGeom>
          <a:solidFill>
            <a:srgbClr val="6D28D9"/>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4</a:t>
            </a:r>
            <a:endParaRPr lang="en-US" sz="1150" b="1">
              <a:solidFill>
                <a:srgbClr val="FFFFFF"/>
              </a:solidFill>
              <a:latin typeface="Segoe UI" panose="020B0502040204020203" pitchFamily="34" charset="0"/>
            </a:endParaRPr>
          </a:p>
        </p:txBody>
      </p:sp>
      <p:sp>
        <p:nvSpPr>
          <p:cNvPr id="14" name="Oval 13"/>
          <p:cNvSpPr/>
          <p:nvPr/>
        </p:nvSpPr>
        <p:spPr>
          <a:xfrm>
            <a:off x="1079500" y="2730500"/>
            <a:ext cx="304800" cy="304800"/>
          </a:xfrm>
          <a:prstGeom prst="ellipse">
            <a:avLst/>
          </a:prstGeom>
          <a:solidFill>
            <a:srgbClr val="1D4ED8"/>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5</a:t>
            </a:r>
            <a:endParaRPr lang="en-US" sz="1150" b="1">
              <a:solidFill>
                <a:srgbClr val="FFFFFF"/>
              </a:solidFill>
              <a:latin typeface="Segoe UI" panose="020B0502040204020203" pitchFamily="34" charset="0"/>
            </a:endParaRPr>
          </a:p>
        </p:txBody>
      </p:sp>
      <p:sp>
        <p:nvSpPr>
          <p:cNvPr id="15" name="Oval 14"/>
          <p:cNvSpPr/>
          <p:nvPr/>
        </p:nvSpPr>
        <p:spPr>
          <a:xfrm>
            <a:off x="2794000" y="2730500"/>
            <a:ext cx="304800" cy="304800"/>
          </a:xfrm>
          <a:prstGeom prst="ellipse">
            <a:avLst/>
          </a:prstGeom>
          <a:solidFill>
            <a:srgbClr val="BE123C"/>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6</a:t>
            </a:r>
            <a:endParaRPr lang="en-US" sz="1150" b="1">
              <a:solidFill>
                <a:srgbClr val="FFFFFF"/>
              </a:solidFill>
              <a:latin typeface="Segoe UI" panose="020B0502040204020203" pitchFamily="34" charset="0"/>
            </a:endParaRPr>
          </a:p>
        </p:txBody>
      </p:sp>
      <p:sp>
        <p:nvSpPr>
          <p:cNvPr id="16" name="Oval 15"/>
          <p:cNvSpPr/>
          <p:nvPr/>
        </p:nvSpPr>
        <p:spPr>
          <a:xfrm>
            <a:off x="4064000" y="4254500"/>
            <a:ext cx="304800" cy="304800"/>
          </a:xfrm>
          <a:prstGeom prst="ellipse">
            <a:avLst/>
          </a:prstGeom>
          <a:solidFill>
            <a:srgbClr val="0284C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7</a:t>
            </a:r>
            <a:endParaRPr lang="en-US" sz="1150" b="1">
              <a:solidFill>
                <a:srgbClr val="FFFFFF"/>
              </a:solidFill>
              <a:latin typeface="Segoe UI" panose="020B0502040204020203" pitchFamily="34" charset="0"/>
            </a:endParaRPr>
          </a:p>
        </p:txBody>
      </p:sp>
      <p:sp>
        <p:nvSpPr>
          <p:cNvPr id="17" name="Rounded Rectangle 16"/>
          <p:cNvSpPr/>
          <p:nvPr/>
        </p:nvSpPr>
        <p:spPr>
          <a:xfrm>
            <a:off x="8382000" y="1333500"/>
            <a:ext cx="3302000" cy="4826000"/>
          </a:xfrm>
          <a:prstGeom prst="roundRect">
            <a:avLst/>
          </a:prstGeom>
          <a:solidFill>
            <a:srgbClr val="FFFFFF"/>
          </a:solidFill>
          <a:ln>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534400" y="1460500"/>
            <a:ext cx="2997200" cy="253916"/>
          </a:xfrm>
          <a:prstGeom prst="rect">
            <a:avLst/>
          </a:prstGeom>
          <a:noFill/>
        </p:spPr>
        <p:txBody>
          <a:bodyPr vert="horz" rtlCol="0">
            <a:spAutoFit/>
          </a:bodyPr>
          <a:lstStyle/>
          <a:p>
            <a:r>
              <a:rPr lang="vi-VN" sz="1050" b="1" smtClean="0">
                <a:solidFill>
                  <a:srgbClr val="1D4ED8"/>
                </a:solidFill>
                <a:latin typeface="Segoe UI" panose="020B0502040204020203" pitchFamily="34" charset="0"/>
              </a:rPr>
              <a:t>DANH MỤC 7 BƯỚC THAO TÁC</a:t>
            </a:r>
            <a:endParaRPr lang="en-US" sz="1050" b="1">
              <a:solidFill>
                <a:srgbClr val="1D4ED8"/>
              </a:solidFill>
              <a:latin typeface="Segoe UI" panose="020B0502040204020203" pitchFamily="34" charset="0"/>
            </a:endParaRPr>
          </a:p>
        </p:txBody>
      </p:sp>
      <p:sp>
        <p:nvSpPr>
          <p:cNvPr id="19" name="TextBox 18"/>
          <p:cNvSpPr txBox="1"/>
          <p:nvPr/>
        </p:nvSpPr>
        <p:spPr>
          <a:xfrm>
            <a:off x="8534400" y="1816100"/>
            <a:ext cx="2997200" cy="2139047"/>
          </a:xfrm>
          <a:prstGeom prst="rect">
            <a:avLst/>
          </a:prstGeom>
          <a:noFill/>
        </p:spPr>
        <p:txBody>
          <a:bodyPr vert="horz" wrap="square" rtlCol="0">
            <a:spAutoFit/>
          </a:bodyPr>
          <a:lstStyle/>
          <a:p>
            <a:r>
              <a:rPr lang="en-US" sz="950" smtClean="0">
                <a:solidFill>
                  <a:srgbClr val="334155"/>
                </a:solidFill>
                <a:latin typeface="Segoe UI" panose="020B0502040204020203" pitchFamily="34" charset="0"/>
              </a:rPr>
              <a:t>① Rebar Scope: [Selected Rebars] / [All Rebars]
② IFC Model: Tích chọn IFC / Auto scan
③ Tolerance (mm) và Clearance (mm)
④ Filter: SkipNames và OnlyNames
⑤ Bấm [Run Clash Check] (hoặc Stop)
⑥ Zoom Selected, Highlight 3D, Clear 3D, Export Report
⑦ Chuột phải ẩn dòng / Phím H, Del</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2183162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1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1: Chọn Phạm Vi Cốt Thép Cần Kiểm Tra (Rebar Scope)</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vi-VN" sz="1050" smtClean="0">
                <a:solidFill>
                  <a:srgbClr val="64748B"/>
                </a:solidFill>
                <a:latin typeface="Segoe UI" panose="020B0502040204020203" pitchFamily="34" charset="0"/>
              </a:rPr>
              <a:t>Xác định rõ đối tượng mục tiêu để tối ưu thời gian quét và tập trung đúng khu vực cần xử lý</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0284C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1</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0284C7"/>
                </a:solidFill>
                <a:latin typeface="Segoe UI" panose="020B0502040204020203" pitchFamily="34" charset="0"/>
              </a:rPr>
              <a:t>Rebar Scope</a:t>
            </a:r>
            <a:endParaRPr lang="en-US" sz="1000" b="1">
              <a:solidFill>
                <a:srgbClr val="0284C7"/>
              </a:solidFill>
              <a:latin typeface="Segoe UI" panose="020B0502040204020203" pitchFamily="34" charset="0"/>
            </a:endParaRPr>
          </a:p>
        </p:txBody>
      </p:sp>
      <p:sp>
        <p:nvSpPr>
          <p:cNvPr id="9" name="Rounded Rectangle 8"/>
          <p:cNvSpPr/>
          <p:nvPr/>
        </p:nvSpPr>
        <p:spPr>
          <a:xfrm>
            <a:off x="635000" y="1905000"/>
            <a:ext cx="5334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3100" y="1968500"/>
            <a:ext cx="50800" cy="2159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12800" y="2019300"/>
            <a:ext cx="19431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 SELECTED REBARS</a:t>
            </a:r>
            <a:endParaRPr lang="en-US" sz="900" b="1">
              <a:solidFill>
                <a:srgbClr val="0284C7"/>
              </a:solidFill>
              <a:latin typeface="Segoe UI" panose="020B0502040204020203" pitchFamily="34" charset="0"/>
            </a:endParaRPr>
          </a:p>
        </p:txBody>
      </p:sp>
      <p:sp>
        <p:nvSpPr>
          <p:cNvPr id="12" name="TextBox 11"/>
          <p:cNvSpPr txBox="1"/>
          <p:nvPr/>
        </p:nvSpPr>
        <p:spPr>
          <a:xfrm>
            <a:off x="2857500" y="2006600"/>
            <a:ext cx="30353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Chế độ: Selected Rebars (Khuyên dùng)</a:t>
            </a:r>
            <a:endParaRPr lang="en-US" sz="1150" b="1">
              <a:solidFill>
                <a:srgbClr val="0F172A"/>
              </a:solidFill>
              <a:latin typeface="Segoe UI" panose="020B0502040204020203" pitchFamily="34" charset="0"/>
            </a:endParaRPr>
          </a:p>
        </p:txBody>
      </p:sp>
      <p:sp>
        <p:nvSpPr>
          <p:cNvPr id="13" name="TextBox 12"/>
          <p:cNvSpPr txBox="1"/>
          <p:nvPr/>
        </p:nvSpPr>
        <p:spPr>
          <a:xfrm>
            <a:off x="812800" y="2311400"/>
            <a:ext cx="4978400" cy="1069524"/>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Định nghĩa: Chỉ quét những thanh cốt thép hoặc dầm/cột bê tông đang được chọn trực tiếp trong khung nhìn Tekla 3D.
• Ưu điểm vượt trội:
  - Tốc độ cực nhanh: Quét xong trong 1-2 giây cho 1 dầm, 1 cột hoặc 1 tầng sàn.
  - Phù hợp nhất khi bạn đang triển khai và sửa đổi shop rebar cho từng cấu kiện cụ thể.
• Mẹo thông minh: Khi chọn cấu kiện bê tông cha (Host Part), toàn bộ cốt thép con bên trong sẽ tự động được thu thập để kiểm tra!</a:t>
            </a:r>
            <a:endParaRPr lang="en-US" sz="950">
              <a:solidFill>
                <a:srgbClr val="334155"/>
              </a:solidFill>
              <a:latin typeface="Segoe UI" panose="020B0502040204020203" pitchFamily="34" charset="0"/>
            </a:endParaRPr>
          </a:p>
        </p:txBody>
      </p:sp>
      <p:sp>
        <p:nvSpPr>
          <p:cNvPr id="14" name="Rounded Rectangle 13"/>
          <p:cNvSpPr/>
          <p:nvPr/>
        </p:nvSpPr>
        <p:spPr>
          <a:xfrm>
            <a:off x="6223000" y="1905000"/>
            <a:ext cx="5334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261100" y="1968500"/>
            <a:ext cx="50800" cy="21590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400800" y="2019300"/>
            <a:ext cx="13970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 ALL REBARS</a:t>
            </a:r>
            <a:endParaRPr lang="en-US" sz="900" b="1">
              <a:solidFill>
                <a:srgbClr val="047857"/>
              </a:solidFill>
              <a:latin typeface="Segoe UI" panose="020B0502040204020203" pitchFamily="34" charset="0"/>
            </a:endParaRPr>
          </a:p>
        </p:txBody>
      </p:sp>
      <p:sp>
        <p:nvSpPr>
          <p:cNvPr id="17" name="TextBox 16"/>
          <p:cNvSpPr txBox="1"/>
          <p:nvPr/>
        </p:nvSpPr>
        <p:spPr>
          <a:xfrm>
            <a:off x="7899400" y="2006600"/>
            <a:ext cx="35814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Chế độ: All Rebars (Toàn bộ mô hình)</a:t>
            </a:r>
            <a:endParaRPr lang="en-US" sz="1150" b="1">
              <a:solidFill>
                <a:srgbClr val="0F172A"/>
              </a:solidFill>
              <a:latin typeface="Segoe UI" panose="020B0502040204020203" pitchFamily="34" charset="0"/>
            </a:endParaRPr>
          </a:p>
        </p:txBody>
      </p:sp>
      <p:sp>
        <p:nvSpPr>
          <p:cNvPr id="18" name="TextBox 17"/>
          <p:cNvSpPr txBox="1"/>
          <p:nvPr/>
        </p:nvSpPr>
        <p:spPr>
          <a:xfrm>
            <a:off x="6400800" y="2311400"/>
            <a:ext cx="4978400" cy="1069524"/>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Định nghĩa: Công cụ sẽ tự động thu thập và kiểm tra toàn bộ cốt thép có trong toàn bộ mô hình Tekla.
• Ưu điểm:
  - Kiểm tra tổng thể toàn bộ dự án trước khi phát hành bản vẽ thi công.
  - Phát hiện các vị trí va chạm ngoài tầm kiểm soát.
• Tối ưu vượt bậc: Áp dụng thuật toán Bounding Box Spatial Index, thời gian quét toàn bộ mô hình được rút ngắn tối đa.</a:t>
            </a:r>
            <a:endParaRPr lang="en-US" sz="950">
              <a:solidFill>
                <a:srgbClr val="334155"/>
              </a:solidFill>
              <a:latin typeface="Segoe UI" panose="020B0502040204020203" pitchFamily="34" charset="0"/>
            </a:endParaRPr>
          </a:p>
        </p:txBody>
      </p:sp>
      <p:sp>
        <p:nvSpPr>
          <p:cNvPr id="19" name="Rounded Rectangle 18"/>
          <p:cNvSpPr/>
          <p:nvPr/>
        </p:nvSpPr>
        <p:spPr>
          <a:xfrm>
            <a:off x="635000" y="4381500"/>
            <a:ext cx="10922000" cy="1651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673100" y="4445000"/>
            <a:ext cx="50800" cy="15240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812800" y="4495800"/>
            <a:ext cx="15113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THAO TÁC NHANH</a:t>
            </a:r>
            <a:endParaRPr lang="en-US" sz="900" b="1">
              <a:solidFill>
                <a:srgbClr val="B45309"/>
              </a:solidFill>
              <a:latin typeface="Segoe UI" panose="020B0502040204020203" pitchFamily="34" charset="0"/>
            </a:endParaRPr>
          </a:p>
        </p:txBody>
      </p:sp>
      <p:sp>
        <p:nvSpPr>
          <p:cNvPr id="22" name="TextBox 21"/>
          <p:cNvSpPr txBox="1"/>
          <p:nvPr/>
        </p:nvSpPr>
        <p:spPr>
          <a:xfrm>
            <a:off x="2425700" y="4483100"/>
            <a:ext cx="90551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Cách thao tác chuẩn trên màn hình Tekla</a:t>
            </a:r>
            <a:endParaRPr lang="en-US" sz="1150" b="1">
              <a:solidFill>
                <a:srgbClr val="0F172A"/>
              </a:solidFill>
              <a:latin typeface="Segoe UI" panose="020B0502040204020203" pitchFamily="34" charset="0"/>
            </a:endParaRPr>
          </a:p>
        </p:txBody>
      </p:sp>
      <p:sp>
        <p:nvSpPr>
          <p:cNvPr id="23" name="TextBox 22"/>
          <p:cNvSpPr txBox="1"/>
          <p:nvPr/>
        </p:nvSpPr>
        <p:spPr>
          <a:xfrm>
            <a:off x="812800" y="4787900"/>
            <a:ext cx="10566400" cy="484748"/>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1. Bật công tắc chọn thanh thép (Select single rebar) hoặc chọn cấu kiện (Select components) trên thanh công cụ Selection của Tekla.
2. Quét chuột chọn vùng dầm, cột hoặc vách cần kiểm tra va chạm trên không gian 3D.
3. Trên giao diện Tool, đảm bảo nút [</a:t>
            </a:r>
            <a:r>
              <a:rPr lang="en-US" sz="950" smtClean="0">
                <a:solidFill>
                  <a:srgbClr val="334155"/>
                </a:solidFill>
                <a:latin typeface="Segoe UI" panose="020B0502040204020203" pitchFamily="34" charset="0"/>
              </a:rPr>
              <a:t>🎯 </a:t>
            </a:r>
            <a:r>
              <a:rPr lang="vi-VN" sz="950" smtClean="0">
                <a:solidFill>
                  <a:srgbClr val="334155"/>
                </a:solidFill>
                <a:latin typeface="Segoe UI" panose="020B0502040204020203" pitchFamily="34" charset="0"/>
              </a:rPr>
              <a:t>Selected Rebars] đang sáng màu xanh dương nổi bật.</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169305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2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2: Lựa Chọn File IFC Tham Chiếu (IFC Model Dropdown)</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en-US" sz="1050" smtClean="0">
                <a:solidFill>
                  <a:srgbClr val="64748B"/>
                </a:solidFill>
                <a:latin typeface="Segoe UI" panose="020B0502040204020203" pitchFamily="34" charset="0"/>
              </a:rPr>
              <a:t>Hỗ trợ tích chọn đồng thời nhiều file IFC hoặc tự động phát hiện theo phong cách Autodesk Navisworks</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04785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2</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047857"/>
                </a:solidFill>
                <a:latin typeface="Segoe UI" panose="020B0502040204020203" pitchFamily="34" charset="0"/>
              </a:rPr>
              <a:t>IFC Model</a:t>
            </a:r>
            <a:endParaRPr lang="en-US" sz="1000" b="1">
              <a:solidFill>
                <a:srgbClr val="047857"/>
              </a:solidFill>
              <a:latin typeface="Segoe UI" panose="020B0502040204020203" pitchFamily="34" charset="0"/>
            </a:endParaRPr>
          </a:p>
        </p:txBody>
      </p:sp>
      <p:sp>
        <p:nvSpPr>
          <p:cNvPr id="9" name="Rounded Rectangle 8"/>
          <p:cNvSpPr/>
          <p:nvPr/>
        </p:nvSpPr>
        <p:spPr>
          <a:xfrm>
            <a:off x="596900" y="1803400"/>
            <a:ext cx="3505200" cy="4673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p:cNvPicPr>
          <p:nvPr/>
        </p:nvPicPr>
        <p:blipFill>
          <a:blip r:embed="rId2">
            <a:extLst>
              <a:ext uri="{28A0092B-C50C-407E-A947-70E740481C1C}">
                <a14:useLocalDpi xmlns:a14="http://schemas.microsoft.com/office/drawing/2010/main" val="0"/>
              </a:ext>
            </a:extLst>
          </a:blip>
          <a:stretch>
            <a:fillRect/>
          </a:stretch>
        </p:blipFill>
        <p:spPr>
          <a:xfrm>
            <a:off x="635000" y="1841500"/>
            <a:ext cx="3429000" cy="4318000"/>
          </a:xfrm>
          <a:prstGeom prst="rect">
            <a:avLst/>
          </a:prstGeom>
          <a:ln w="12700">
            <a:solidFill>
              <a:schemeClr val="tx1"/>
            </a:solidFill>
          </a:ln>
        </p:spPr>
      </p:pic>
      <p:sp>
        <p:nvSpPr>
          <p:cNvPr id="11" name="TextBox 10"/>
          <p:cNvSpPr txBox="1"/>
          <p:nvPr/>
        </p:nvSpPr>
        <p:spPr>
          <a:xfrm>
            <a:off x="635000" y="6210300"/>
            <a:ext cx="3429000" cy="176972"/>
          </a:xfrm>
          <a:prstGeom prst="rect">
            <a:avLst/>
          </a:prstGeom>
          <a:noFill/>
        </p:spPr>
        <p:txBody>
          <a:bodyPr vert="horz" lIns="0" tIns="0" rtlCol="0">
            <a:spAutoFit/>
          </a:bodyPr>
          <a:lstStyle/>
          <a:p>
            <a:pPr algn="ctr"/>
            <a:r>
              <a:rPr lang="en-US" sz="850" i="1" smtClean="0">
                <a:solidFill>
                  <a:srgbClr val="64748B"/>
                </a:solidFill>
                <a:latin typeface="Segoe UI" panose="020B0502040204020203" pitchFamily="34" charset="0"/>
              </a:rPr>
              <a:t>Menu thả xuống tích chọn nhiều file IFC</a:t>
            </a:r>
            <a:endParaRPr lang="en-US" sz="850" i="1">
              <a:solidFill>
                <a:srgbClr val="64748B"/>
              </a:solidFill>
              <a:latin typeface="Segoe UI" panose="020B0502040204020203" pitchFamily="34" charset="0"/>
            </a:endParaRPr>
          </a:p>
        </p:txBody>
      </p:sp>
      <p:sp>
        <p:nvSpPr>
          <p:cNvPr id="12" name="Rounded Rectangle 11"/>
          <p:cNvSpPr/>
          <p:nvPr/>
        </p:nvSpPr>
        <p:spPr>
          <a:xfrm>
            <a:off x="4381500" y="1841500"/>
            <a:ext cx="7175500" cy="1524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419600" y="1905000"/>
            <a:ext cx="50800" cy="1397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559300" y="1955800"/>
            <a:ext cx="18288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TÍCH CHỌN ĐA FILE</a:t>
            </a:r>
            <a:endParaRPr lang="en-US" sz="900" b="1">
              <a:solidFill>
                <a:srgbClr val="0284C7"/>
              </a:solidFill>
              <a:latin typeface="Segoe UI" panose="020B0502040204020203" pitchFamily="34" charset="0"/>
            </a:endParaRPr>
          </a:p>
        </p:txBody>
      </p:sp>
      <p:sp>
        <p:nvSpPr>
          <p:cNvPr id="15" name="TextBox 14"/>
          <p:cNvSpPr txBox="1"/>
          <p:nvPr/>
        </p:nvSpPr>
        <p:spPr>
          <a:xfrm>
            <a:off x="6489700" y="1943100"/>
            <a:ext cx="49911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Menu Tích Chọn Nhiều File IFC Cùng Lúc</a:t>
            </a:r>
            <a:endParaRPr lang="en-US" sz="1150" b="1">
              <a:solidFill>
                <a:srgbClr val="0F172A"/>
              </a:solidFill>
              <a:latin typeface="Segoe UI" panose="020B0502040204020203" pitchFamily="34" charset="0"/>
            </a:endParaRPr>
          </a:p>
        </p:txBody>
      </p:sp>
      <p:sp>
        <p:nvSpPr>
          <p:cNvPr id="16" name="TextBox 15"/>
          <p:cNvSpPr txBox="1"/>
          <p:nvPr/>
        </p:nvSpPr>
        <p:spPr>
          <a:xfrm>
            <a:off x="4559300" y="2247900"/>
            <a:ext cx="68199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Tự động quét Reference Models: Tool tự động nạp toàn bộ danh sách các file IFC đang được đính kèm trong mô hình Tekla.
• Tích chọn đa file linh hoạt: Người dùng có thể tích chọn đồng thời 1, 2 hoặc nhiều file IFC cùng lúc (ví dụ vừa quét file Kết cấu thép, vừa quét file Cơ điện MEP).
• Tìm kiếm nhanh: Gõ từ khóa vào ô tìm kiếm để lọc nhanh danh sách hàng chục file IFC.</a:t>
            </a:r>
            <a:endParaRPr lang="en-US" sz="950">
              <a:solidFill>
                <a:srgbClr val="334155"/>
              </a:solidFill>
              <a:latin typeface="Segoe UI" panose="020B0502040204020203" pitchFamily="34" charset="0"/>
            </a:endParaRPr>
          </a:p>
        </p:txBody>
      </p:sp>
      <p:sp>
        <p:nvSpPr>
          <p:cNvPr id="17" name="Rounded Rectangle 16"/>
          <p:cNvSpPr/>
          <p:nvPr/>
        </p:nvSpPr>
        <p:spPr>
          <a:xfrm>
            <a:off x="4381500" y="3556000"/>
            <a:ext cx="7175500" cy="1524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4419600" y="3619500"/>
            <a:ext cx="50800" cy="13970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559300" y="3670300"/>
            <a:ext cx="16256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CHẾ ĐỘ NÂNG CAO</a:t>
            </a:r>
            <a:endParaRPr lang="en-US" sz="900" b="1">
              <a:solidFill>
                <a:srgbClr val="B45309"/>
              </a:solidFill>
              <a:latin typeface="Segoe UI" panose="020B0502040204020203" pitchFamily="34" charset="0"/>
            </a:endParaRPr>
          </a:p>
        </p:txBody>
      </p:sp>
      <p:sp>
        <p:nvSpPr>
          <p:cNvPr id="20" name="TextBox 19"/>
          <p:cNvSpPr txBox="1"/>
          <p:nvPr/>
        </p:nvSpPr>
        <p:spPr>
          <a:xfrm>
            <a:off x="6286500" y="3657600"/>
            <a:ext cx="51943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Các Tùy Chọn Quét IFC Đặc Biệt (Dropdown)</a:t>
            </a:r>
            <a:endParaRPr lang="en-US" sz="1150" b="1">
              <a:solidFill>
                <a:srgbClr val="0F172A"/>
              </a:solidFill>
              <a:latin typeface="Segoe UI" panose="020B0502040204020203" pitchFamily="34" charset="0"/>
            </a:endParaRPr>
          </a:p>
        </p:txBody>
      </p:sp>
      <p:sp>
        <p:nvSpPr>
          <p:cNvPr id="21" name="TextBox 20"/>
          <p:cNvSpPr txBox="1"/>
          <p:nvPr/>
        </p:nvSpPr>
        <p:spPr>
          <a:xfrm>
            <a:off x="4559300" y="3962400"/>
            <a:ext cx="6819900" cy="630942"/>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 ⭐ </a:t>
            </a:r>
            <a:r>
              <a:rPr lang="vi-VN" sz="950" smtClean="0">
                <a:solidFill>
                  <a:srgbClr val="334155"/>
                </a:solidFill>
                <a:latin typeface="Segoe UI" panose="020B0502040204020203" pitchFamily="34" charset="0"/>
              </a:rPr>
              <a:t>Auto scan all IFC files: Tự động khoanh vùng và quét tất cả các file IFC có đối tượng giao cắt với vùng cốt thép.
• </a:t>
            </a:r>
            <a:r>
              <a:rPr lang="en-US" sz="950" smtClean="0">
                <a:solidFill>
                  <a:srgbClr val="334155"/>
                </a:solidFill>
                <a:latin typeface="Segoe UI" panose="020B0502040204020203" pitchFamily="34" charset="0"/>
              </a:rPr>
              <a:t>🎯 </a:t>
            </a:r>
            <a:r>
              <a:rPr lang="vi-VN" sz="950" smtClean="0">
                <a:solidFill>
                  <a:srgbClr val="334155"/>
                </a:solidFill>
                <a:latin typeface="Segoe UI" panose="020B0502040204020203" pitchFamily="34" charset="0"/>
              </a:rPr>
              <a:t>Selected IFC objects / Parts in Tekla only: Chỉ quét va chạm với các Part hoặc Reference Object mà bạn đang pick chọn trên 3D.
• Phím tắt chọn nhanh: Bấm [☑ Check All] hoặc [☐ Clear All] để thao tác chỉ với 1 cú nhấp chuột.</a:t>
            </a:r>
            <a:endParaRPr lang="en-US" sz="950">
              <a:solidFill>
                <a:srgbClr val="334155"/>
              </a:solidFill>
              <a:latin typeface="Segoe UI" panose="020B0502040204020203" pitchFamily="34" charset="0"/>
            </a:endParaRPr>
          </a:p>
        </p:txBody>
      </p:sp>
      <p:sp>
        <p:nvSpPr>
          <p:cNvPr id="22" name="Rounded Rectangle 21"/>
          <p:cNvSpPr/>
          <p:nvPr/>
        </p:nvSpPr>
        <p:spPr>
          <a:xfrm>
            <a:off x="4381500" y="5270500"/>
            <a:ext cx="7175500" cy="889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4419600" y="5334000"/>
            <a:ext cx="50800" cy="762000"/>
          </a:xfrm>
          <a:prstGeom prst="roundRect">
            <a:avLst/>
          </a:prstGeom>
          <a:solidFill>
            <a:srgbClr val="BE12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4559300" y="5384800"/>
            <a:ext cx="889000" cy="254000"/>
          </a:xfrm>
          <a:prstGeom prst="roundRect">
            <a:avLst/>
          </a:prstGeom>
          <a:solidFill>
            <a:srgbClr val="F1F5F9"/>
          </a:solidFill>
          <a:ln w="12700">
            <a:solidFill>
              <a:srgbClr val="BE1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00" b="1" smtClean="0">
                <a:solidFill>
                  <a:srgbClr val="BE123C"/>
                </a:solidFill>
                <a:latin typeface="Segoe UI" panose="020B0502040204020203" pitchFamily="34" charset="0"/>
              </a:rPr>
              <a:t>LƯU Ý</a:t>
            </a:r>
            <a:endParaRPr lang="en-US" sz="900" b="1">
              <a:solidFill>
                <a:srgbClr val="BE123C"/>
              </a:solidFill>
              <a:latin typeface="Segoe UI" panose="020B0502040204020203" pitchFamily="34" charset="0"/>
            </a:endParaRPr>
          </a:p>
        </p:txBody>
      </p:sp>
      <p:sp>
        <p:nvSpPr>
          <p:cNvPr id="25" name="TextBox 24"/>
          <p:cNvSpPr txBox="1"/>
          <p:nvPr/>
        </p:nvSpPr>
        <p:spPr>
          <a:xfrm>
            <a:off x="5549900" y="5372100"/>
            <a:ext cx="59309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Trạng Thái Hiển Thị File IFC</a:t>
            </a:r>
            <a:endParaRPr lang="en-US" sz="1150" b="1">
              <a:solidFill>
                <a:srgbClr val="0F172A"/>
              </a:solidFill>
              <a:latin typeface="Segoe UI" panose="020B0502040204020203" pitchFamily="34" charset="0"/>
            </a:endParaRPr>
          </a:p>
        </p:txBody>
      </p:sp>
      <p:sp>
        <p:nvSpPr>
          <p:cNvPr id="26" name="TextBox 25"/>
          <p:cNvSpPr txBox="1"/>
          <p:nvPr/>
        </p:nvSpPr>
        <p:spPr>
          <a:xfrm>
            <a:off x="4559300" y="5676900"/>
            <a:ext cx="6819900" cy="338554"/>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Lưu ý kỹ thuật: File IFC phải được chèn vào Tekla qua bảng Reference Models và biểu tượng con mắt hiển thị phải ở trạng thái BẬT (Visible).</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3850895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3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en-US" sz="1850" b="1" smtClean="0">
                <a:solidFill>
                  <a:srgbClr val="0F172A"/>
                </a:solidFill>
                <a:latin typeface="Segoe UI" panose="020B0502040204020203" pitchFamily="34" charset="0"/>
              </a:rPr>
              <a:t>Bước 3: Thiết Lập Tolerance (mm) và Clearance (mm)</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en-US" sz="1050" smtClean="0">
                <a:solidFill>
                  <a:srgbClr val="64748B"/>
                </a:solidFill>
                <a:latin typeface="Segoe UI" panose="020B0502040204020203" pitchFamily="34" charset="0"/>
              </a:rPr>
              <a:t>Cấu hình chuẩn xác để loại bỏ va chạm giả và đồng bộ 100% với tham số trong Autodesk Navisworks Manage</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B45309"/>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3</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B45309"/>
                </a:solidFill>
                <a:latin typeface="Segoe UI" panose="020B0502040204020203" pitchFamily="34" charset="0"/>
              </a:rPr>
              <a:t>Tolerance &amp; Clearance</a:t>
            </a:r>
            <a:endParaRPr lang="en-US" sz="1000" b="1">
              <a:solidFill>
                <a:srgbClr val="B45309"/>
              </a:solidFill>
              <a:latin typeface="Segoe UI" panose="020B0502040204020203" pitchFamily="34" charset="0"/>
            </a:endParaRPr>
          </a:p>
        </p:txBody>
      </p:sp>
      <p:sp>
        <p:nvSpPr>
          <p:cNvPr id="9" name="Rounded Rectangle 8"/>
          <p:cNvSpPr/>
          <p:nvPr/>
        </p:nvSpPr>
        <p:spPr>
          <a:xfrm>
            <a:off x="596900" y="1803400"/>
            <a:ext cx="5664200" cy="1371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p:cNvPicPr>
          <p:nvPr/>
        </p:nvPicPr>
        <p:blipFill>
          <a:blip r:embed="rId2">
            <a:extLst>
              <a:ext uri="{28A0092B-C50C-407E-A947-70E740481C1C}">
                <a14:useLocalDpi xmlns:a14="http://schemas.microsoft.com/office/drawing/2010/main" val="0"/>
              </a:ext>
            </a:extLst>
          </a:blip>
          <a:stretch>
            <a:fillRect/>
          </a:stretch>
        </p:blipFill>
        <p:spPr>
          <a:xfrm>
            <a:off x="635000" y="1841500"/>
            <a:ext cx="5588000" cy="1016000"/>
          </a:xfrm>
          <a:prstGeom prst="rect">
            <a:avLst/>
          </a:prstGeom>
          <a:ln w="12700">
            <a:solidFill>
              <a:schemeClr val="tx1"/>
            </a:solidFill>
          </a:ln>
        </p:spPr>
      </p:pic>
      <p:sp>
        <p:nvSpPr>
          <p:cNvPr id="11" name="TextBox 10"/>
          <p:cNvSpPr txBox="1"/>
          <p:nvPr/>
        </p:nvSpPr>
        <p:spPr>
          <a:xfrm>
            <a:off x="635000" y="2908300"/>
            <a:ext cx="5588000" cy="176972"/>
          </a:xfrm>
          <a:prstGeom prst="rect">
            <a:avLst/>
          </a:prstGeom>
          <a:noFill/>
        </p:spPr>
        <p:txBody>
          <a:bodyPr vert="horz" lIns="0" tIns="0" rtlCol="0">
            <a:spAutoFit/>
          </a:bodyPr>
          <a:lstStyle/>
          <a:p>
            <a:pPr algn="ctr"/>
            <a:r>
              <a:rPr lang="en-US" sz="850" i="1" smtClean="0">
                <a:solidFill>
                  <a:srgbClr val="64748B"/>
                </a:solidFill>
                <a:latin typeface="Segoe UI" panose="020B0502040204020203" pitchFamily="34" charset="0"/>
              </a:rPr>
              <a:t>Cụm tham số trên Tool: Tolerance (mm) và Clearance (mm)</a:t>
            </a:r>
            <a:endParaRPr lang="en-US" sz="850" i="1">
              <a:solidFill>
                <a:srgbClr val="64748B"/>
              </a:solidFill>
              <a:latin typeface="Segoe UI" panose="020B0502040204020203" pitchFamily="34" charset="0"/>
            </a:endParaRPr>
          </a:p>
        </p:txBody>
      </p:sp>
      <p:sp>
        <p:nvSpPr>
          <p:cNvPr id="12" name="Rounded Rectangle 11"/>
          <p:cNvSpPr/>
          <p:nvPr/>
        </p:nvSpPr>
        <p:spPr>
          <a:xfrm>
            <a:off x="6438900" y="1803400"/>
            <a:ext cx="5156200" cy="1371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p:cNvPicPr>
          <p:nvPr/>
        </p:nvPicPr>
        <p:blipFill>
          <a:blip r:embed="rId3">
            <a:extLst>
              <a:ext uri="{28A0092B-C50C-407E-A947-70E740481C1C}">
                <a14:useLocalDpi xmlns:a14="http://schemas.microsoft.com/office/drawing/2010/main" val="0"/>
              </a:ext>
            </a:extLst>
          </a:blip>
          <a:stretch>
            <a:fillRect/>
          </a:stretch>
        </p:blipFill>
        <p:spPr>
          <a:xfrm>
            <a:off x="6477000" y="1841500"/>
            <a:ext cx="5080000" cy="1016000"/>
          </a:xfrm>
          <a:prstGeom prst="rect">
            <a:avLst/>
          </a:prstGeom>
          <a:ln w="12700">
            <a:solidFill>
              <a:schemeClr val="tx1"/>
            </a:solidFill>
          </a:ln>
        </p:spPr>
      </p:pic>
      <p:sp>
        <p:nvSpPr>
          <p:cNvPr id="14" name="TextBox 13"/>
          <p:cNvSpPr txBox="1"/>
          <p:nvPr/>
        </p:nvSpPr>
        <p:spPr>
          <a:xfrm>
            <a:off x="6477000" y="2908300"/>
            <a:ext cx="5080000" cy="176972"/>
          </a:xfrm>
          <a:prstGeom prst="rect">
            <a:avLst/>
          </a:prstGeom>
          <a:noFill/>
        </p:spPr>
        <p:txBody>
          <a:bodyPr vert="horz" lIns="0" tIns="0" rtlCol="0">
            <a:spAutoFit/>
          </a:bodyPr>
          <a:lstStyle/>
          <a:p>
            <a:pPr algn="ctr"/>
            <a:r>
              <a:rPr lang="en-US" sz="850" i="1" smtClean="0">
                <a:solidFill>
                  <a:srgbClr val="64748B"/>
                </a:solidFill>
                <a:latin typeface="Segoe UI" panose="020B0502040204020203" pitchFamily="34" charset="0"/>
              </a:rPr>
              <a:t>Tham số trong Navisworks Manage: Tolerance 0.008 m (8 mm)</a:t>
            </a:r>
            <a:endParaRPr lang="en-US" sz="850" i="1">
              <a:solidFill>
                <a:srgbClr val="64748B"/>
              </a:solidFill>
              <a:latin typeface="Segoe UI" panose="020B0502040204020203" pitchFamily="34" charset="0"/>
            </a:endParaRPr>
          </a:p>
        </p:txBody>
      </p:sp>
      <p:sp>
        <p:nvSpPr>
          <p:cNvPr id="15" name="Rounded Rectangle 14"/>
          <p:cNvSpPr/>
          <p:nvPr/>
        </p:nvSpPr>
        <p:spPr>
          <a:xfrm>
            <a:off x="635000" y="3111500"/>
            <a:ext cx="5334000" cy="1651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73100" y="3175000"/>
            <a:ext cx="50800" cy="1524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812800" y="3225800"/>
            <a:ext cx="15113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TOLERANCE (MM)</a:t>
            </a:r>
            <a:endParaRPr lang="en-US" sz="900" b="1">
              <a:solidFill>
                <a:srgbClr val="0284C7"/>
              </a:solidFill>
              <a:latin typeface="Segoe UI" panose="020B0502040204020203" pitchFamily="34" charset="0"/>
            </a:endParaRPr>
          </a:p>
        </p:txBody>
      </p:sp>
      <p:sp>
        <p:nvSpPr>
          <p:cNvPr id="18" name="TextBox 17"/>
          <p:cNvSpPr txBox="1"/>
          <p:nvPr/>
        </p:nvSpPr>
        <p:spPr>
          <a:xfrm>
            <a:off x="2425700" y="3213100"/>
            <a:ext cx="3467100" cy="223138"/>
          </a:xfrm>
          <a:prstGeom prst="rect">
            <a:avLst/>
          </a:prstGeom>
          <a:noFill/>
        </p:spPr>
        <p:txBody>
          <a:bodyPr vert="horz" lIns="0" tIns="0" rtlCol="0">
            <a:spAutoFit/>
          </a:bodyPr>
          <a:lstStyle/>
          <a:p>
            <a:r>
              <a:rPr lang="it-IT" sz="1150" b="1" smtClean="0">
                <a:solidFill>
                  <a:srgbClr val="0F172A"/>
                </a:solidFill>
                <a:latin typeface="Segoe UI" panose="020B0502040204020203" pitchFamily="34" charset="0"/>
              </a:rPr>
              <a:t>Dung sai va chạm (Tolerance)</a:t>
            </a:r>
            <a:endParaRPr lang="en-US" sz="1150" b="1">
              <a:solidFill>
                <a:srgbClr val="0F172A"/>
              </a:solidFill>
              <a:latin typeface="Segoe UI" panose="020B0502040204020203" pitchFamily="34" charset="0"/>
            </a:endParaRPr>
          </a:p>
        </p:txBody>
      </p:sp>
      <p:sp>
        <p:nvSpPr>
          <p:cNvPr id="19" name="TextBox 18"/>
          <p:cNvSpPr txBox="1"/>
          <p:nvPr/>
        </p:nvSpPr>
        <p:spPr>
          <a:xfrm>
            <a:off x="812800" y="3517900"/>
            <a:ext cx="49784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Tương đương trong Navisworks: Tolerance ở chế độ Type: Hard.
• Ý nghĩa: Bỏ qua độ lấn bề mặt nhỏ hơn hoặc bằng giá trị này.
• Quy đổi: 0.008 m (Navisworks) = 8 mm (Tool Clash-check).
• Xử lý thông minh: Tiếp xúc bề mặt (&lt; 0.01mm) hoặc tiếp xúc đầu mút thanh thép (axial end contact) được bỏ qua an toàn để không báo lỗi giả!</a:t>
            </a:r>
            <a:endParaRPr lang="en-US" sz="950">
              <a:solidFill>
                <a:srgbClr val="334155"/>
              </a:solidFill>
              <a:latin typeface="Segoe UI" panose="020B0502040204020203" pitchFamily="34" charset="0"/>
            </a:endParaRPr>
          </a:p>
        </p:txBody>
      </p:sp>
      <p:sp>
        <p:nvSpPr>
          <p:cNvPr id="20" name="Rounded Rectangle 19"/>
          <p:cNvSpPr/>
          <p:nvPr/>
        </p:nvSpPr>
        <p:spPr>
          <a:xfrm>
            <a:off x="6223000" y="3111500"/>
            <a:ext cx="5334000" cy="1651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6261100" y="3175000"/>
            <a:ext cx="50800" cy="15240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6400800" y="3225800"/>
            <a:ext cx="15113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CLEARANCE (MM)</a:t>
            </a:r>
            <a:endParaRPr lang="en-US" sz="900" b="1">
              <a:solidFill>
                <a:srgbClr val="B45309"/>
              </a:solidFill>
              <a:latin typeface="Segoe UI" panose="020B0502040204020203" pitchFamily="34" charset="0"/>
            </a:endParaRPr>
          </a:p>
        </p:txBody>
      </p:sp>
      <p:sp>
        <p:nvSpPr>
          <p:cNvPr id="23" name="TextBox 22"/>
          <p:cNvSpPr txBox="1"/>
          <p:nvPr/>
        </p:nvSpPr>
        <p:spPr>
          <a:xfrm>
            <a:off x="8013700" y="3213100"/>
            <a:ext cx="34671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Khoảng hở bảo vệ (Clearance)</a:t>
            </a:r>
            <a:endParaRPr lang="en-US" sz="1150" b="1">
              <a:solidFill>
                <a:srgbClr val="0F172A"/>
              </a:solidFill>
              <a:latin typeface="Segoe UI" panose="020B0502040204020203" pitchFamily="34" charset="0"/>
            </a:endParaRPr>
          </a:p>
        </p:txBody>
      </p:sp>
      <p:sp>
        <p:nvSpPr>
          <p:cNvPr id="24" name="TextBox 23"/>
          <p:cNvSpPr txBox="1"/>
          <p:nvPr/>
        </p:nvSpPr>
        <p:spPr>
          <a:xfrm>
            <a:off x="6400800" y="3517900"/>
            <a:ext cx="49784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Tương đương trong Navisworks: Tolerance ở chế độ Type: Clearance.
• Ý nghĩa: Vùng đệm khoảng cách an toàn tối thiểu giữa mép ngoài cốt thép và cấu kiện IFC.
• Khuyên dùng: Đặt 0 mm khi chỉ kiểm tra đâm xuyên vật lý; đặt 20-50 mm khi cần đảm bảo lớp bê tông bảo vệ.</a:t>
            </a:r>
            <a:endParaRPr lang="en-US" sz="950">
              <a:solidFill>
                <a:srgbClr val="334155"/>
              </a:solidFill>
              <a:latin typeface="Segoe UI" panose="020B0502040204020203" pitchFamily="34" charset="0"/>
            </a:endParaRPr>
          </a:p>
        </p:txBody>
      </p:sp>
      <p:sp>
        <p:nvSpPr>
          <p:cNvPr id="25" name="Rounded Rectangle 24"/>
          <p:cNvSpPr/>
          <p:nvPr/>
        </p:nvSpPr>
        <p:spPr>
          <a:xfrm>
            <a:off x="635000" y="4953000"/>
            <a:ext cx="10922000" cy="1206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a:off x="673100" y="5016500"/>
            <a:ext cx="50800" cy="1079500"/>
          </a:xfrm>
          <a:prstGeom prst="roundRect">
            <a:avLst/>
          </a:prstGeom>
          <a:solidFill>
            <a:srgbClr val="BE12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p:cNvSpPr/>
          <p:nvPr/>
        </p:nvSpPr>
        <p:spPr>
          <a:xfrm>
            <a:off x="812800" y="5067300"/>
            <a:ext cx="1828800" cy="254000"/>
          </a:xfrm>
          <a:prstGeom prst="roundRect">
            <a:avLst/>
          </a:prstGeom>
          <a:solidFill>
            <a:srgbClr val="F1F5F9"/>
          </a:solidFill>
          <a:ln w="12700">
            <a:solidFill>
              <a:srgbClr val="BE1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E123C"/>
                </a:solidFill>
                <a:latin typeface="Segoe UI" panose="020B0502040204020203" pitchFamily="34" charset="0"/>
              </a:rPr>
              <a:t>PHÂN CẤP SEVERITY</a:t>
            </a:r>
            <a:endParaRPr lang="en-US" sz="900" b="1">
              <a:solidFill>
                <a:srgbClr val="BE123C"/>
              </a:solidFill>
              <a:latin typeface="Segoe UI" panose="020B0502040204020203" pitchFamily="34" charset="0"/>
            </a:endParaRPr>
          </a:p>
        </p:txBody>
      </p:sp>
      <p:sp>
        <p:nvSpPr>
          <p:cNvPr id="28" name="TextBox 27"/>
          <p:cNvSpPr txBox="1"/>
          <p:nvPr/>
        </p:nvSpPr>
        <p:spPr>
          <a:xfrm>
            <a:off x="2743200" y="5054600"/>
            <a:ext cx="87376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Phân Cấp Mức Độ Va Chạm Tự Động (Severity)</a:t>
            </a:r>
            <a:endParaRPr lang="en-US" sz="1150" b="1">
              <a:solidFill>
                <a:srgbClr val="0F172A"/>
              </a:solidFill>
              <a:latin typeface="Segoe UI" panose="020B0502040204020203" pitchFamily="34" charset="0"/>
            </a:endParaRPr>
          </a:p>
        </p:txBody>
      </p:sp>
      <p:sp>
        <p:nvSpPr>
          <p:cNvPr id="29" name="TextBox 28"/>
          <p:cNvSpPr txBox="1"/>
          <p:nvPr/>
        </p:nvSpPr>
        <p:spPr>
          <a:xfrm>
            <a:off x="812800" y="5359400"/>
            <a:ext cx="10566400" cy="484748"/>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 🔴 Severe (Đỏ): Va chạm nghiêm trọng - cốt thép đâm xuyên sâu vào thân cấu kiện IFC (&gt; 20mm).
• 🔵/🟠 Medium (Xanh/Cam): Va chạm mức trung bình - độ lấn từ 5mm đến 20mm.
• 🟡 Minor (Vàng): Va chạm nhẹ mép hoặc xâm phạm khoảng hở an toàn (&lt; 5mm).</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975599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4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4: Thiết Lập Bộ Lọc Skip Filter và Only Filter</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vi-VN" sz="1050" smtClean="0">
                <a:solidFill>
                  <a:srgbClr val="64748B"/>
                </a:solidFill>
                <a:latin typeface="Segoe UI" panose="020B0502040204020203" pitchFamily="34" charset="0"/>
              </a:rPr>
              <a:t>Loại bỏ hoàn toàn các chi tiết phụ và tập trung kiểm tra đúng các đối tượng kết cấu chính</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6D28D9"/>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4</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6D28D9"/>
                </a:solidFill>
                <a:latin typeface="Segoe UI" panose="020B0502040204020203" pitchFamily="34" charset="0"/>
              </a:rPr>
              <a:t>Skip &amp; Only Filter</a:t>
            </a:r>
            <a:endParaRPr lang="en-US" sz="1000" b="1">
              <a:solidFill>
                <a:srgbClr val="6D28D9"/>
              </a:solidFill>
              <a:latin typeface="Segoe UI" panose="020B0502040204020203" pitchFamily="34" charset="0"/>
            </a:endParaRPr>
          </a:p>
        </p:txBody>
      </p:sp>
      <p:sp>
        <p:nvSpPr>
          <p:cNvPr id="9" name="Rounded Rectangle 8"/>
          <p:cNvSpPr/>
          <p:nvPr/>
        </p:nvSpPr>
        <p:spPr>
          <a:xfrm>
            <a:off x="596900" y="1803400"/>
            <a:ext cx="4394200" cy="2133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p:cNvPicPr>
          <p:nvPr/>
        </p:nvPicPr>
        <p:blipFill>
          <a:blip r:embed="rId2">
            <a:extLst>
              <a:ext uri="{28A0092B-C50C-407E-A947-70E740481C1C}">
                <a14:useLocalDpi xmlns:a14="http://schemas.microsoft.com/office/drawing/2010/main" val="0"/>
              </a:ext>
            </a:extLst>
          </a:blip>
          <a:stretch>
            <a:fillRect/>
          </a:stretch>
        </p:blipFill>
        <p:spPr>
          <a:xfrm>
            <a:off x="635000" y="1841500"/>
            <a:ext cx="4318000" cy="1778000"/>
          </a:xfrm>
          <a:prstGeom prst="rect">
            <a:avLst/>
          </a:prstGeom>
          <a:ln w="12700">
            <a:solidFill>
              <a:schemeClr val="tx1"/>
            </a:solidFill>
          </a:ln>
        </p:spPr>
      </p:pic>
      <p:sp>
        <p:nvSpPr>
          <p:cNvPr id="11" name="TextBox 10"/>
          <p:cNvSpPr txBox="1"/>
          <p:nvPr/>
        </p:nvSpPr>
        <p:spPr>
          <a:xfrm>
            <a:off x="635000" y="3670300"/>
            <a:ext cx="4318000" cy="176972"/>
          </a:xfrm>
          <a:prstGeom prst="rect">
            <a:avLst/>
          </a:prstGeom>
          <a:noFill/>
        </p:spPr>
        <p:txBody>
          <a:bodyPr vert="horz" lIns="0" tIns="0" rtlCol="0">
            <a:spAutoFit/>
          </a:bodyPr>
          <a:lstStyle/>
          <a:p>
            <a:pPr algn="ctr"/>
            <a:r>
              <a:rPr lang="vi-VN" sz="850" i="1" smtClean="0">
                <a:solidFill>
                  <a:srgbClr val="64748B"/>
                </a:solidFill>
                <a:latin typeface="Segoe UI" panose="020B0502040204020203" pitchFamily="34" charset="0"/>
              </a:rPr>
              <a:t>Danh sách từ khóa Skip Filter được tự động lưu</a:t>
            </a:r>
            <a:endParaRPr lang="en-US" sz="850" i="1">
              <a:solidFill>
                <a:srgbClr val="64748B"/>
              </a:solidFill>
              <a:latin typeface="Segoe UI" panose="020B0502040204020203" pitchFamily="34" charset="0"/>
            </a:endParaRPr>
          </a:p>
        </p:txBody>
      </p:sp>
      <p:sp>
        <p:nvSpPr>
          <p:cNvPr id="12" name="Rounded Rectangle 11"/>
          <p:cNvSpPr/>
          <p:nvPr/>
        </p:nvSpPr>
        <p:spPr>
          <a:xfrm>
            <a:off x="5270500" y="1841500"/>
            <a:ext cx="6286500" cy="1778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308600" y="1905000"/>
            <a:ext cx="50800" cy="16510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448300" y="1955800"/>
            <a:ext cx="24892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SKIP FILTER (SKIPNAMES)</a:t>
            </a:r>
            <a:endParaRPr lang="en-US" sz="900" b="1">
              <a:solidFill>
                <a:srgbClr val="047857"/>
              </a:solidFill>
              <a:latin typeface="Segoe UI" panose="020B0502040204020203" pitchFamily="34" charset="0"/>
            </a:endParaRPr>
          </a:p>
        </p:txBody>
      </p:sp>
      <p:sp>
        <p:nvSpPr>
          <p:cNvPr id="15" name="TextBox 14"/>
          <p:cNvSpPr txBox="1"/>
          <p:nvPr/>
        </p:nvSpPr>
        <p:spPr>
          <a:xfrm>
            <a:off x="8039100" y="1943100"/>
            <a:ext cx="34417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Bỏ Qua Cấu Kiện Phụ (Skip Filter)</a:t>
            </a:r>
            <a:endParaRPr lang="en-US" sz="1150" b="1">
              <a:solidFill>
                <a:srgbClr val="0F172A"/>
              </a:solidFill>
              <a:latin typeface="Segoe UI" panose="020B0502040204020203" pitchFamily="34" charset="0"/>
            </a:endParaRPr>
          </a:p>
        </p:txBody>
      </p:sp>
      <p:sp>
        <p:nvSpPr>
          <p:cNvPr id="16" name="TextBox 15"/>
          <p:cNvSpPr txBox="1"/>
          <p:nvPr/>
        </p:nvSpPr>
        <p:spPr>
          <a:xfrm>
            <a:off x="5448300" y="2247900"/>
            <a:ext cx="59309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Mục đích: Tự động bỏ qua các đối tượng phụ không cần kiểm tra va chạm với cốt thép.
• Danh sách mặc định: Bolt assembly, SAFETY_BAR, LUG, LADDER, SAFETY_HOOK, VBRACE, WELD_COUPLER, CHECK_COUPLER.
• Cú pháp linh hoạt: Hỗ trợ phân tách từ khóa bằng dấu cách, xuống dòng hoặc dấu phẩy.
• Nút [↺ Default]: Khôi phục lại danh sách từ khóa chuẩn ban đầu chỉ với 1 cú click.</a:t>
            </a:r>
            <a:endParaRPr lang="en-US" sz="950">
              <a:solidFill>
                <a:srgbClr val="334155"/>
              </a:solidFill>
              <a:latin typeface="Segoe UI" panose="020B0502040204020203" pitchFamily="34" charset="0"/>
            </a:endParaRPr>
          </a:p>
        </p:txBody>
      </p:sp>
      <p:sp>
        <p:nvSpPr>
          <p:cNvPr id="17" name="Rounded Rectangle 16"/>
          <p:cNvSpPr/>
          <p:nvPr/>
        </p:nvSpPr>
        <p:spPr>
          <a:xfrm>
            <a:off x="635000" y="3810000"/>
            <a:ext cx="5334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673100" y="3873500"/>
            <a:ext cx="50800" cy="2159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812800" y="3924300"/>
            <a:ext cx="18288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3 TẦNG LỌC TỐC ĐỘ</a:t>
            </a:r>
            <a:endParaRPr lang="en-US" sz="900" b="1">
              <a:solidFill>
                <a:srgbClr val="0284C7"/>
              </a:solidFill>
              <a:latin typeface="Segoe UI" panose="020B0502040204020203" pitchFamily="34" charset="0"/>
            </a:endParaRPr>
          </a:p>
        </p:txBody>
      </p:sp>
      <p:sp>
        <p:nvSpPr>
          <p:cNvPr id="20" name="TextBox 19"/>
          <p:cNvSpPr txBox="1"/>
          <p:nvPr/>
        </p:nvSpPr>
        <p:spPr>
          <a:xfrm>
            <a:off x="2743200" y="3911600"/>
            <a:ext cx="3149600" cy="223138"/>
          </a:xfrm>
          <a:prstGeom prst="rect">
            <a:avLst/>
          </a:prstGeom>
          <a:noFill/>
        </p:spPr>
        <p:txBody>
          <a:bodyPr vert="horz" lIns="0" tIns="0" rtlCol="0">
            <a:spAutoFit/>
          </a:bodyPr>
          <a:lstStyle/>
          <a:p>
            <a:r>
              <a:rPr lang="vi-VN" sz="1150" b="1" smtClean="0">
                <a:solidFill>
                  <a:srgbClr val="0F172A"/>
                </a:solidFill>
                <a:latin typeface="Segoe UI" panose="020B0502040204020203" pitchFamily="34" charset="0"/>
              </a:rPr>
              <a:t>Cơ Chế Lọc 3 Tầng Siêu Tốc</a:t>
            </a:r>
            <a:endParaRPr lang="en-US" sz="1150" b="1">
              <a:solidFill>
                <a:srgbClr val="0F172A"/>
              </a:solidFill>
              <a:latin typeface="Segoe UI" panose="020B0502040204020203" pitchFamily="34" charset="0"/>
            </a:endParaRPr>
          </a:p>
        </p:txBody>
      </p:sp>
      <p:sp>
        <p:nvSpPr>
          <p:cNvPr id="21" name="TextBox 20"/>
          <p:cNvSpPr txBox="1"/>
          <p:nvPr/>
        </p:nvSpPr>
        <p:spPr>
          <a:xfrm>
            <a:off x="812800" y="4216400"/>
            <a:ext cx="4978400" cy="630942"/>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1. Tầng 1: Lọc ngay khi nạp file IFC trong C++ IfcConvert Engine (tiết kiệm 60% RAM).
2. Tầng 2: Native Bounding Box Spatial Index trong Tekla lọc nhanh trong 1-2 giây (thay vì quét cây 3 phút).
3. Tầng 3: Narrow-phase đa luồng loại trừ chính xác tuyệt đối các chi tiết phụ.</a:t>
            </a:r>
            <a:endParaRPr lang="en-US" sz="950">
              <a:solidFill>
                <a:srgbClr val="334155"/>
              </a:solidFill>
              <a:latin typeface="Segoe UI" panose="020B0502040204020203" pitchFamily="34" charset="0"/>
            </a:endParaRPr>
          </a:p>
        </p:txBody>
      </p:sp>
      <p:sp>
        <p:nvSpPr>
          <p:cNvPr id="22" name="Rounded Rectangle 21"/>
          <p:cNvSpPr/>
          <p:nvPr/>
        </p:nvSpPr>
        <p:spPr>
          <a:xfrm>
            <a:off x="6223000" y="3810000"/>
            <a:ext cx="5334000" cy="2286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6261100" y="3873500"/>
            <a:ext cx="50800" cy="2159000"/>
          </a:xfrm>
          <a:prstGeom prst="roundRect">
            <a:avLst/>
          </a:prstGeom>
          <a:solidFill>
            <a:srgbClr val="6D28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6400800" y="3924300"/>
            <a:ext cx="2489200" cy="254000"/>
          </a:xfrm>
          <a:prstGeom prst="roundRect">
            <a:avLst/>
          </a:prstGeom>
          <a:solidFill>
            <a:srgbClr val="F1F5F9"/>
          </a:solidFill>
          <a:ln w="12700">
            <a:solidFill>
              <a:srgbClr val="6D28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6D28D9"/>
                </a:solidFill>
                <a:latin typeface="Segoe UI" panose="020B0502040204020203" pitchFamily="34" charset="0"/>
              </a:rPr>
              <a:t>ONLY FILTER (ONLYNAMES)</a:t>
            </a:r>
            <a:endParaRPr lang="en-US" sz="900" b="1">
              <a:solidFill>
                <a:srgbClr val="6D28D9"/>
              </a:solidFill>
              <a:latin typeface="Segoe UI" panose="020B0502040204020203" pitchFamily="34" charset="0"/>
            </a:endParaRPr>
          </a:p>
        </p:txBody>
      </p:sp>
      <p:sp>
        <p:nvSpPr>
          <p:cNvPr id="25" name="TextBox 24"/>
          <p:cNvSpPr txBox="1"/>
          <p:nvPr/>
        </p:nvSpPr>
        <p:spPr>
          <a:xfrm>
            <a:off x="8991600" y="3911600"/>
            <a:ext cx="2489200" cy="400110"/>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Chỉ Quét Cấu Kiện Chỉ Định (Only Filter)</a:t>
            </a:r>
            <a:endParaRPr lang="en-US" sz="1150" b="1">
              <a:solidFill>
                <a:srgbClr val="0F172A"/>
              </a:solidFill>
              <a:latin typeface="Segoe UI" panose="020B0502040204020203" pitchFamily="34" charset="0"/>
            </a:endParaRPr>
          </a:p>
        </p:txBody>
      </p:sp>
      <p:sp>
        <p:nvSpPr>
          <p:cNvPr id="26" name="TextBox 25"/>
          <p:cNvSpPr txBox="1"/>
          <p:nvPr/>
        </p:nvSpPr>
        <p:spPr>
          <a:xfrm>
            <a:off x="6400800" y="4216400"/>
            <a:ext cx="4978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Mục đích: Chỉ quét duy nhất các cấu kiện IFC có tên chứa từ khóa chỉ định.
• Ví dụ thực tế: Nhập BEAM, COLUMN, GIRDER, SLAB, WALL khi bạn chỉ muốn kiểm tra va chạm với Dầm, Cột hoặc Tường chính.
• Nút [✖ Clear]: Xóa nhanh ô lọc để quay lại chế độ quét tất cả đối tượng.</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1044777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5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5: Khởi Chạy [Run Clash Check] và Giám Sát Tiến Trình</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en-US" sz="1050" smtClean="0">
                <a:solidFill>
                  <a:srgbClr val="64748B"/>
                </a:solidFill>
                <a:latin typeface="Segoe UI" panose="020B0502040204020203" pitchFamily="34" charset="0"/>
              </a:rPr>
              <a:t>Kích hoạt cỗ máy tính toán song song đa luồng và giám sát tiến độ thời gian thực</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1D4ED8"/>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5</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1D4ED8"/>
                </a:solidFill>
                <a:latin typeface="Segoe UI" panose="020B0502040204020203" pitchFamily="34" charset="0"/>
              </a:rPr>
              <a:t>Run Clash Check</a:t>
            </a:r>
            <a:endParaRPr lang="en-US" sz="1000" b="1">
              <a:solidFill>
                <a:srgbClr val="1D4ED8"/>
              </a:solidFill>
              <a:latin typeface="Segoe UI" panose="020B0502040204020203" pitchFamily="34" charset="0"/>
            </a:endParaRPr>
          </a:p>
        </p:txBody>
      </p:sp>
      <p:sp>
        <p:nvSpPr>
          <p:cNvPr id="9" name="Rounded Rectangle 8"/>
          <p:cNvSpPr/>
          <p:nvPr/>
        </p:nvSpPr>
        <p:spPr>
          <a:xfrm>
            <a:off x="635000" y="1905000"/>
            <a:ext cx="6985000" cy="2032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3100" y="1968500"/>
            <a:ext cx="50800" cy="1905000"/>
          </a:xfrm>
          <a:prstGeom prst="roundRect">
            <a:avLst/>
          </a:prstGeom>
          <a:solidFill>
            <a:srgbClr val="1D4E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12800" y="2019300"/>
            <a:ext cx="1828800" cy="254000"/>
          </a:xfrm>
          <a:prstGeom prst="roundRect">
            <a:avLst/>
          </a:prstGeom>
          <a:solidFill>
            <a:srgbClr val="F1F5F9"/>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1D4ED8"/>
                </a:solidFill>
                <a:latin typeface="Segoe UI" panose="020B0502040204020203" pitchFamily="34" charset="0"/>
              </a:rPr>
              <a:t>⚡ RUN CLASH CHECK</a:t>
            </a:r>
            <a:endParaRPr lang="en-US" sz="900" b="1">
              <a:solidFill>
                <a:srgbClr val="1D4ED8"/>
              </a:solidFill>
              <a:latin typeface="Segoe UI" panose="020B0502040204020203" pitchFamily="34" charset="0"/>
            </a:endParaRPr>
          </a:p>
        </p:txBody>
      </p:sp>
      <p:sp>
        <p:nvSpPr>
          <p:cNvPr id="12" name="TextBox 11"/>
          <p:cNvSpPr txBox="1"/>
          <p:nvPr/>
        </p:nvSpPr>
        <p:spPr>
          <a:xfrm>
            <a:off x="2743200" y="2006600"/>
            <a:ext cx="4800600" cy="223138"/>
          </a:xfrm>
          <a:prstGeom prst="rect">
            <a:avLst/>
          </a:prstGeom>
          <a:noFill/>
        </p:spPr>
        <p:txBody>
          <a:bodyPr vert="horz" lIns="0" tIns="0" rtlCol="0">
            <a:spAutoFit/>
          </a:bodyPr>
          <a:lstStyle/>
          <a:p>
            <a:r>
              <a:rPr lang="fr-FR" sz="1150" b="1" smtClean="0">
                <a:solidFill>
                  <a:srgbClr val="0F172A"/>
                </a:solidFill>
                <a:latin typeface="Segoe UI" panose="020B0502040204020203" pitchFamily="34" charset="0"/>
              </a:rPr>
              <a:t>Khởi Chạy Quét Va Chạm Song Song</a:t>
            </a:r>
            <a:endParaRPr lang="en-US" sz="1150" b="1">
              <a:solidFill>
                <a:srgbClr val="0F172A"/>
              </a:solidFill>
              <a:latin typeface="Segoe UI" panose="020B0502040204020203" pitchFamily="34" charset="0"/>
            </a:endParaRPr>
          </a:p>
        </p:txBody>
      </p:sp>
      <p:sp>
        <p:nvSpPr>
          <p:cNvPr id="13" name="TextBox 12"/>
          <p:cNvSpPr txBox="1"/>
          <p:nvPr/>
        </p:nvSpPr>
        <p:spPr>
          <a:xfrm>
            <a:off x="812800" y="2311400"/>
            <a:ext cx="66294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Cách thực hiện: Sau khi cấu hình xong Rebar Scope, IFC Model và Dung sai, nhấp vào nút [⚡ Run Clash Check].
• Quy trình tự động diễn ra:
  1. Khởi tạo tác vụ nền bất đồng bộ (Async Task), form hoàn toàn mượt mà không đơ treo.
  2. Khoanh vùng IFC thông minh: Tận dụng Bounding Box Spatial Index lọc tức thì các cấu kiện IFC trong phạm vi thép.
  3. Narrow-phase: Phân tích đa luồng song song trên 100% các nhân CPU (Parallel.ForEach).</a:t>
            </a:r>
            <a:endParaRPr lang="en-US" sz="950">
              <a:solidFill>
                <a:srgbClr val="334155"/>
              </a:solidFill>
              <a:latin typeface="Segoe UI" panose="020B0502040204020203" pitchFamily="34" charset="0"/>
            </a:endParaRPr>
          </a:p>
        </p:txBody>
      </p:sp>
      <p:sp>
        <p:nvSpPr>
          <p:cNvPr id="14" name="Rounded Rectangle 13"/>
          <p:cNvSpPr/>
          <p:nvPr/>
        </p:nvSpPr>
        <p:spPr>
          <a:xfrm>
            <a:off x="7874000" y="1905000"/>
            <a:ext cx="3683000" cy="2032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7912100" y="1968500"/>
            <a:ext cx="50800" cy="1905000"/>
          </a:xfrm>
          <a:prstGeom prst="roundRect">
            <a:avLst/>
          </a:prstGeom>
          <a:solidFill>
            <a:srgbClr val="BE12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8051800" y="2019300"/>
            <a:ext cx="1511300" cy="254000"/>
          </a:xfrm>
          <a:prstGeom prst="roundRect">
            <a:avLst/>
          </a:prstGeom>
          <a:solidFill>
            <a:srgbClr val="F1F5F9"/>
          </a:solidFill>
          <a:ln w="12700">
            <a:solidFill>
              <a:srgbClr val="BE1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E123C"/>
                </a:solidFill>
                <a:latin typeface="Segoe UI" panose="020B0502040204020203" pitchFamily="34" charset="0"/>
              </a:rPr>
              <a:t>⏹ STOP AN TOÀN</a:t>
            </a:r>
            <a:endParaRPr lang="en-US" sz="900" b="1">
              <a:solidFill>
                <a:srgbClr val="BE123C"/>
              </a:solidFill>
              <a:latin typeface="Segoe UI" panose="020B0502040204020203" pitchFamily="34" charset="0"/>
            </a:endParaRPr>
          </a:p>
        </p:txBody>
      </p:sp>
      <p:sp>
        <p:nvSpPr>
          <p:cNvPr id="17" name="TextBox 16"/>
          <p:cNvSpPr txBox="1"/>
          <p:nvPr/>
        </p:nvSpPr>
        <p:spPr>
          <a:xfrm>
            <a:off x="9664700" y="2006600"/>
            <a:ext cx="18161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Nút [⏹ Stop] Tác Vụ</a:t>
            </a:r>
            <a:endParaRPr lang="en-US" sz="1150" b="1">
              <a:solidFill>
                <a:srgbClr val="0F172A"/>
              </a:solidFill>
              <a:latin typeface="Segoe UI" panose="020B0502040204020203" pitchFamily="34" charset="0"/>
            </a:endParaRPr>
          </a:p>
        </p:txBody>
      </p:sp>
      <p:sp>
        <p:nvSpPr>
          <p:cNvPr id="18" name="TextBox 17"/>
          <p:cNvSpPr txBox="1"/>
          <p:nvPr/>
        </p:nvSpPr>
        <p:spPr>
          <a:xfrm>
            <a:off x="8051800" y="2311400"/>
            <a:ext cx="3327400" cy="923330"/>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Trong khi quét, nút [⏹ Stop] màu xám sẽ sáng lên để sẵn sàng hủy tác vụ.
• Bạn có thể nhấp [⏹ Stop] bất kỳ lúc nào để dừng quét an toàn qua CancellationToken.
• Kết quả tính toán đến thời điểm dừng vẫn được giữ lại nguyên vẹn để phân tích.</a:t>
            </a:r>
            <a:endParaRPr lang="en-US" sz="950">
              <a:solidFill>
                <a:srgbClr val="334155"/>
              </a:solidFill>
              <a:latin typeface="Segoe UI" panose="020B0502040204020203" pitchFamily="34" charset="0"/>
            </a:endParaRPr>
          </a:p>
        </p:txBody>
      </p:sp>
      <p:sp>
        <p:nvSpPr>
          <p:cNvPr id="19" name="Rounded Rectangle 18"/>
          <p:cNvSpPr/>
          <p:nvPr/>
        </p:nvSpPr>
        <p:spPr>
          <a:xfrm>
            <a:off x="635000" y="4127500"/>
            <a:ext cx="10922000" cy="1841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673100" y="4191000"/>
            <a:ext cx="50800" cy="17145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812800" y="4241800"/>
            <a:ext cx="17272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GIÁM SÁT TIẾN ĐỘ</a:t>
            </a:r>
            <a:endParaRPr lang="en-US" sz="900" b="1">
              <a:solidFill>
                <a:srgbClr val="047857"/>
              </a:solidFill>
              <a:latin typeface="Segoe UI" panose="020B0502040204020203" pitchFamily="34" charset="0"/>
            </a:endParaRPr>
          </a:p>
        </p:txBody>
      </p:sp>
      <p:sp>
        <p:nvSpPr>
          <p:cNvPr id="22" name="TextBox 21"/>
          <p:cNvSpPr txBox="1"/>
          <p:nvPr/>
        </p:nvSpPr>
        <p:spPr>
          <a:xfrm>
            <a:off x="2641600" y="4229100"/>
            <a:ext cx="88392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Thanh Trạng Thái và Bộ Đếm Tiến Độ Thời Gian Thực</a:t>
            </a:r>
            <a:endParaRPr lang="en-US" sz="1150" b="1">
              <a:solidFill>
                <a:srgbClr val="0F172A"/>
              </a:solidFill>
              <a:latin typeface="Segoe UI" panose="020B0502040204020203" pitchFamily="34" charset="0"/>
            </a:endParaRPr>
          </a:p>
        </p:txBody>
      </p:sp>
      <p:sp>
        <p:nvSpPr>
          <p:cNvPr id="23" name="TextBox 22"/>
          <p:cNvSpPr txBox="1"/>
          <p:nvPr/>
        </p:nvSpPr>
        <p:spPr>
          <a:xfrm>
            <a:off x="812800" y="4533900"/>
            <a:ext cx="10566400" cy="484748"/>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Thanh trạng thái (Status Strip) ở góc dưới hiển thị thông báo thời gian thực: 'Searching IFC objects...', 'Checking collisions...', 'Done! X clash(es) found'.
• Bộ đếm ở góc phải hiển thị tổng số va chạm (ví dụ: '2 clashes').
• Khi hoàn tất, bảng DataGridView tự động hiển thị đầy đủ danh sách các điểm va chạm.</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3407072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6 TRÊN GIAO DIỆN</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6: Tương Tác 3D Tekla và Xuất Báo Cáo [Export Report]</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en-US" sz="1050" smtClean="0">
                <a:solidFill>
                  <a:srgbClr val="64748B"/>
                </a:solidFill>
                <a:latin typeface="Segoe UI" panose="020B0502040204020203" pitchFamily="34" charset="0"/>
              </a:rPr>
              <a:t>Xem thông tin chi tiết từng điểm va chạm, lia camera 3D, đánh dấu khối hộp và xuất file Excel nghiệm thu</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BE123C"/>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6</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BE123C"/>
                </a:solidFill>
                <a:latin typeface="Segoe UI" panose="020B0502040204020203" pitchFamily="34" charset="0"/>
              </a:rPr>
              <a:t>Zoom, Highlight 3D &amp; Report</a:t>
            </a:r>
            <a:endParaRPr lang="en-US" sz="1000" b="1">
              <a:solidFill>
                <a:srgbClr val="BE123C"/>
              </a:solidFill>
              <a:latin typeface="Segoe UI" panose="020B0502040204020203" pitchFamily="34" charset="0"/>
            </a:endParaRPr>
          </a:p>
        </p:txBody>
      </p:sp>
      <p:sp>
        <p:nvSpPr>
          <p:cNvPr id="9" name="Rounded Rectangle 8"/>
          <p:cNvSpPr/>
          <p:nvPr/>
        </p:nvSpPr>
        <p:spPr>
          <a:xfrm>
            <a:off x="596900" y="1803400"/>
            <a:ext cx="10998200" cy="25146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p:cNvPicPr>
          <p:nvPr/>
        </p:nvPicPr>
        <p:blipFill>
          <a:blip r:embed="rId2">
            <a:extLst>
              <a:ext uri="{28A0092B-C50C-407E-A947-70E740481C1C}">
                <a14:useLocalDpi xmlns:a14="http://schemas.microsoft.com/office/drawing/2010/main" val="0"/>
              </a:ext>
            </a:extLst>
          </a:blip>
          <a:stretch>
            <a:fillRect/>
          </a:stretch>
        </p:blipFill>
        <p:spPr>
          <a:xfrm>
            <a:off x="635000" y="1841500"/>
            <a:ext cx="10922000" cy="2159000"/>
          </a:xfrm>
          <a:prstGeom prst="rect">
            <a:avLst/>
          </a:prstGeom>
          <a:ln w="12700">
            <a:solidFill>
              <a:schemeClr val="tx1"/>
            </a:solidFill>
          </a:ln>
        </p:spPr>
      </p:pic>
      <p:sp>
        <p:nvSpPr>
          <p:cNvPr id="11" name="TextBox 10"/>
          <p:cNvSpPr txBox="1"/>
          <p:nvPr/>
        </p:nvSpPr>
        <p:spPr>
          <a:xfrm>
            <a:off x="635000" y="4051300"/>
            <a:ext cx="10922000" cy="176972"/>
          </a:xfrm>
          <a:prstGeom prst="rect">
            <a:avLst/>
          </a:prstGeom>
          <a:noFill/>
        </p:spPr>
        <p:txBody>
          <a:bodyPr vert="horz" lIns="0" tIns="0" rtlCol="0">
            <a:spAutoFit/>
          </a:bodyPr>
          <a:lstStyle/>
          <a:p>
            <a:pPr algn="ctr"/>
            <a:r>
              <a:rPr lang="vi-VN" sz="850" i="1" smtClean="0">
                <a:solidFill>
                  <a:srgbClr val="64748B"/>
                </a:solidFill>
                <a:latin typeface="Segoe UI" panose="020B0502040204020203" pitchFamily="34" charset="0"/>
              </a:rPr>
              <a:t>Bảng kết quả va chạm chi tiết và các nút điều khiển tương tác 3D</a:t>
            </a:r>
            <a:endParaRPr lang="en-US" sz="850" i="1">
              <a:solidFill>
                <a:srgbClr val="64748B"/>
              </a:solidFill>
              <a:latin typeface="Segoe UI" panose="020B0502040204020203" pitchFamily="34" charset="0"/>
            </a:endParaRPr>
          </a:p>
        </p:txBody>
      </p:sp>
      <p:sp>
        <p:nvSpPr>
          <p:cNvPr id="12" name="Rounded Rectangle 11"/>
          <p:cNvSpPr/>
          <p:nvPr/>
        </p:nvSpPr>
        <p:spPr>
          <a:xfrm>
            <a:off x="635000" y="4191000"/>
            <a:ext cx="3429000" cy="1841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673100" y="4254500"/>
            <a:ext cx="50800" cy="17145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12800" y="4305300"/>
            <a:ext cx="17272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 ZOOM SELECTED</a:t>
            </a:r>
            <a:endParaRPr lang="en-US" sz="900" b="1">
              <a:solidFill>
                <a:srgbClr val="0284C7"/>
              </a:solidFill>
              <a:latin typeface="Segoe UI" panose="020B0502040204020203" pitchFamily="34" charset="0"/>
            </a:endParaRPr>
          </a:p>
        </p:txBody>
      </p:sp>
      <p:sp>
        <p:nvSpPr>
          <p:cNvPr id="15" name="TextBox 14"/>
          <p:cNvSpPr txBox="1"/>
          <p:nvPr/>
        </p:nvSpPr>
        <p:spPr>
          <a:xfrm>
            <a:off x="2641600" y="4292600"/>
            <a:ext cx="1346200" cy="400110"/>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Zoom và Chọn Cấu Kiện</a:t>
            </a:r>
            <a:endParaRPr lang="en-US" sz="1150" b="1">
              <a:solidFill>
                <a:srgbClr val="0F172A"/>
              </a:solidFill>
              <a:latin typeface="Segoe UI" panose="020B0502040204020203" pitchFamily="34" charset="0"/>
            </a:endParaRPr>
          </a:p>
        </p:txBody>
      </p:sp>
      <p:sp>
        <p:nvSpPr>
          <p:cNvPr id="16" name="TextBox 15"/>
          <p:cNvSpPr txBox="1"/>
          <p:nvPr/>
        </p:nvSpPr>
        <p:spPr>
          <a:xfrm>
            <a:off x="812800" y="4597400"/>
            <a:ext cx="3073400" cy="923330"/>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Nhấp đúp chuột vào bất kỳ dòng nào trong bảng (hoặc chọn dòng rồi bấm [</a:t>
            </a:r>
            <a:r>
              <a:rPr lang="en-US" sz="950" smtClean="0">
                <a:solidFill>
                  <a:srgbClr val="334155"/>
                </a:solidFill>
                <a:latin typeface="Segoe UI" panose="020B0502040204020203" pitchFamily="34" charset="0"/>
              </a:rPr>
              <a:t>🔍 </a:t>
            </a:r>
            <a:r>
              <a:rPr lang="vi-VN" sz="950" smtClean="0">
                <a:solidFill>
                  <a:srgbClr val="334155"/>
                </a:solidFill>
                <a:latin typeface="Segoe UI" panose="020B0502040204020203" pitchFamily="34" charset="0"/>
              </a:rPr>
              <a:t>Zoom Selected]).
• Camera 3D Tekla lập tức lia sát cận cảnh vào vị trí va chạm.
• Thanh thép bị va chạm được tự động Select chọn nổi bật trên mô hình.</a:t>
            </a:r>
            <a:endParaRPr lang="en-US" sz="950">
              <a:solidFill>
                <a:srgbClr val="334155"/>
              </a:solidFill>
              <a:latin typeface="Segoe UI" panose="020B0502040204020203" pitchFamily="34" charset="0"/>
            </a:endParaRPr>
          </a:p>
        </p:txBody>
      </p:sp>
      <p:sp>
        <p:nvSpPr>
          <p:cNvPr id="17" name="Rounded Rectangle 16"/>
          <p:cNvSpPr/>
          <p:nvPr/>
        </p:nvSpPr>
        <p:spPr>
          <a:xfrm>
            <a:off x="4381500" y="4191000"/>
            <a:ext cx="3429000" cy="1841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4419600" y="4254500"/>
            <a:ext cx="50800" cy="17145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559300" y="4305300"/>
            <a:ext cx="24892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 HIGHLIGHT &amp; CLEAR 3D</a:t>
            </a:r>
            <a:endParaRPr lang="en-US" sz="900" b="1">
              <a:solidFill>
                <a:srgbClr val="B45309"/>
              </a:solidFill>
              <a:latin typeface="Segoe UI" panose="020B0502040204020203" pitchFamily="34" charset="0"/>
            </a:endParaRPr>
          </a:p>
        </p:txBody>
      </p:sp>
      <p:sp>
        <p:nvSpPr>
          <p:cNvPr id="20" name="TextBox 19"/>
          <p:cNvSpPr txBox="1"/>
          <p:nvPr/>
        </p:nvSpPr>
        <p:spPr>
          <a:xfrm>
            <a:off x="7150100" y="4292600"/>
            <a:ext cx="584200" cy="1107996"/>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Đánh Dấu &amp; Xóa Khối Hộp 3D</a:t>
            </a:r>
            <a:endParaRPr lang="en-US" sz="1150" b="1">
              <a:solidFill>
                <a:srgbClr val="0F172A"/>
              </a:solidFill>
              <a:latin typeface="Segoe UI" panose="020B0502040204020203" pitchFamily="34" charset="0"/>
            </a:endParaRPr>
          </a:p>
        </p:txBody>
      </p:sp>
      <p:sp>
        <p:nvSpPr>
          <p:cNvPr id="21" name="TextBox 20"/>
          <p:cNvSpPr txBox="1"/>
          <p:nvPr/>
        </p:nvSpPr>
        <p:spPr>
          <a:xfrm>
            <a:off x="4559300" y="4597400"/>
            <a:ext cx="3073400" cy="923330"/>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Bấm [</a:t>
            </a:r>
            <a:r>
              <a:rPr lang="en-US" sz="950" smtClean="0">
                <a:solidFill>
                  <a:srgbClr val="334155"/>
                </a:solidFill>
                <a:latin typeface="Segoe UI" panose="020B0502040204020203" pitchFamily="34" charset="0"/>
              </a:rPr>
              <a:t>💡 </a:t>
            </a:r>
            <a:r>
              <a:rPr lang="vi-VN" sz="950" smtClean="0">
                <a:solidFill>
                  <a:srgbClr val="334155"/>
                </a:solidFill>
                <a:latin typeface="Segoe UI" panose="020B0502040204020203" pitchFamily="34" charset="0"/>
              </a:rPr>
              <a:t>Highlight 3D]: Tự động vẽ các khối hộp lập phương 3D màu đỏ bao quanh điểm va chạm kèm dấu chéo.
• Bấm [</a:t>
            </a:r>
            <a:r>
              <a:rPr lang="en-US" sz="950" smtClean="0">
                <a:solidFill>
                  <a:srgbClr val="334155"/>
                </a:solidFill>
                <a:latin typeface="Segoe UI" panose="020B0502040204020203" pitchFamily="34" charset="0"/>
              </a:rPr>
              <a:t>🧹 </a:t>
            </a:r>
            <a:r>
              <a:rPr lang="vi-VN" sz="950" smtClean="0">
                <a:solidFill>
                  <a:srgbClr val="334155"/>
                </a:solidFill>
                <a:latin typeface="Segoe UI" panose="020B0502040204020203" pitchFamily="34" charset="0"/>
              </a:rPr>
              <a:t>Clear 3D]: Tự động xóa sạch toàn bộ khối hộp vẽ tạm và vẽ lại khung nhìn Tekla (RedrawView) tức thì!</a:t>
            </a:r>
            <a:endParaRPr lang="en-US" sz="950">
              <a:solidFill>
                <a:srgbClr val="334155"/>
              </a:solidFill>
              <a:latin typeface="Segoe UI" panose="020B0502040204020203" pitchFamily="34" charset="0"/>
            </a:endParaRPr>
          </a:p>
        </p:txBody>
      </p:sp>
      <p:sp>
        <p:nvSpPr>
          <p:cNvPr id="22" name="Rounded Rectangle 21"/>
          <p:cNvSpPr/>
          <p:nvPr/>
        </p:nvSpPr>
        <p:spPr>
          <a:xfrm>
            <a:off x="8128000" y="4191000"/>
            <a:ext cx="3429000" cy="1841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8166100" y="4254500"/>
            <a:ext cx="50800" cy="17145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8305800" y="4305300"/>
            <a:ext cx="17272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 EXPORT REPORT</a:t>
            </a:r>
            <a:endParaRPr lang="en-US" sz="900" b="1">
              <a:solidFill>
                <a:srgbClr val="047857"/>
              </a:solidFill>
              <a:latin typeface="Segoe UI" panose="020B0502040204020203" pitchFamily="34" charset="0"/>
            </a:endParaRPr>
          </a:p>
        </p:txBody>
      </p:sp>
      <p:sp>
        <p:nvSpPr>
          <p:cNvPr id="25" name="TextBox 24"/>
          <p:cNvSpPr txBox="1"/>
          <p:nvPr/>
        </p:nvSpPr>
        <p:spPr>
          <a:xfrm>
            <a:off x="10134600" y="4292600"/>
            <a:ext cx="1346200" cy="400110"/>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Báo Cáo Excel/CSV Đầy Đủ</a:t>
            </a:r>
            <a:endParaRPr lang="en-US" sz="1150" b="1">
              <a:solidFill>
                <a:srgbClr val="0F172A"/>
              </a:solidFill>
              <a:latin typeface="Segoe UI" panose="020B0502040204020203" pitchFamily="34" charset="0"/>
            </a:endParaRPr>
          </a:p>
        </p:txBody>
      </p:sp>
      <p:sp>
        <p:nvSpPr>
          <p:cNvPr id="26" name="TextBox 25"/>
          <p:cNvSpPr txBox="1"/>
          <p:nvPr/>
        </p:nvSpPr>
        <p:spPr>
          <a:xfrm>
            <a:off x="8305800" y="4597400"/>
            <a:ext cx="3073400" cy="777136"/>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 Bấm nút [📊 Export Report (Excel/CSV)].
• Xuất file bảng mã UTF-8 chuẩn tiếng Việt có dấu.
• Đầy đủ 12 cột: #, Rebar ID, Rebar Name, Size, Grade, Pos (Mark), Host Part, IFC Entity, Length (mm), Overlap (mm), Severity, Clash Point (X, Y, Z).</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17199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5306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950" b="1" smtClean="0">
                <a:solidFill>
                  <a:srgbClr val="1D4ED8"/>
                </a:solidFill>
                <a:latin typeface="Segoe UI" panose="020B0502040204020203" pitchFamily="34" charset="0"/>
              </a:rPr>
              <a:t>BƯỚC 7 TRÊN GIAO DIỆN (TÍNH NĂNG MỚI)</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Bước 7: Chuột Phải Ẩn Dòng và Phím Tắt H / Delete Duyệt Một Lượt</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vi-VN" sz="1050" smtClean="0">
                <a:solidFill>
                  <a:srgbClr val="64748B"/>
                </a:solidFill>
                <a:latin typeface="Segoe UI" panose="020B0502040204020203" pitchFamily="34" charset="0"/>
              </a:rPr>
              <a:t>Quy trình kiểm duyệt mượt mà, loại bỏ điểm đã xử lý và tự động chuyển dòng kế tiếp</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Oval 6"/>
          <p:cNvSpPr/>
          <p:nvPr/>
        </p:nvSpPr>
        <p:spPr>
          <a:xfrm>
            <a:off x="635000" y="1397000"/>
            <a:ext cx="304800" cy="304800"/>
          </a:xfrm>
          <a:prstGeom prst="ellipse">
            <a:avLst/>
          </a:prstGeom>
          <a:solidFill>
            <a:srgbClr val="0284C7"/>
          </a:solidFill>
          <a:ln w="2286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r>
              <a:rPr lang="en-US" sz="1150" b="1" smtClean="0">
                <a:solidFill>
                  <a:srgbClr val="FFFFFF"/>
                </a:solidFill>
                <a:latin typeface="Segoe UI" panose="020B0502040204020203" pitchFamily="34" charset="0"/>
              </a:rPr>
              <a:t>7</a:t>
            </a:r>
            <a:endParaRPr lang="en-US" sz="1150" b="1">
              <a:solidFill>
                <a:srgbClr val="FFFFFF"/>
              </a:solidFill>
              <a:latin typeface="Segoe UI" panose="020B0502040204020203" pitchFamily="34" charset="0"/>
            </a:endParaRPr>
          </a:p>
        </p:txBody>
      </p:sp>
      <p:sp>
        <p:nvSpPr>
          <p:cNvPr id="8" name="TextBox 7"/>
          <p:cNvSpPr txBox="1"/>
          <p:nvPr/>
        </p:nvSpPr>
        <p:spPr>
          <a:xfrm>
            <a:off x="990600" y="1422400"/>
            <a:ext cx="2794000" cy="200055"/>
          </a:xfrm>
          <a:prstGeom prst="rect">
            <a:avLst/>
          </a:prstGeom>
          <a:noFill/>
        </p:spPr>
        <p:txBody>
          <a:bodyPr vert="horz" lIns="0" tIns="0" rtlCol="0">
            <a:spAutoFit/>
          </a:bodyPr>
          <a:lstStyle/>
          <a:p>
            <a:r>
              <a:rPr lang="en-US" sz="1000" b="1" smtClean="0">
                <a:solidFill>
                  <a:srgbClr val="0284C7"/>
                </a:solidFill>
                <a:latin typeface="Segoe UI" panose="020B0502040204020203" pitchFamily="34" charset="0"/>
              </a:rPr>
              <a:t>Hide Row &amp; Context Menu</a:t>
            </a:r>
            <a:endParaRPr lang="en-US" sz="1000" b="1">
              <a:solidFill>
                <a:srgbClr val="0284C7"/>
              </a:solidFill>
              <a:latin typeface="Segoe UI" panose="020B0502040204020203" pitchFamily="34" charset="0"/>
            </a:endParaRPr>
          </a:p>
        </p:txBody>
      </p:sp>
      <p:sp>
        <p:nvSpPr>
          <p:cNvPr id="9" name="Rounded Rectangle 8"/>
          <p:cNvSpPr/>
          <p:nvPr/>
        </p:nvSpPr>
        <p:spPr>
          <a:xfrm>
            <a:off x="635000" y="1905000"/>
            <a:ext cx="5334000" cy="2095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3100" y="1968500"/>
            <a:ext cx="50800" cy="19685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12800" y="2019300"/>
            <a:ext cx="12954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CONTEXT MENU</a:t>
            </a:r>
            <a:endParaRPr lang="en-US" sz="900" b="1">
              <a:solidFill>
                <a:srgbClr val="B45309"/>
              </a:solidFill>
              <a:latin typeface="Segoe UI" panose="020B0502040204020203" pitchFamily="34" charset="0"/>
            </a:endParaRPr>
          </a:p>
        </p:txBody>
      </p:sp>
      <p:sp>
        <p:nvSpPr>
          <p:cNvPr id="12" name="TextBox 11"/>
          <p:cNvSpPr txBox="1"/>
          <p:nvPr/>
        </p:nvSpPr>
        <p:spPr>
          <a:xfrm>
            <a:off x="2209800" y="2006600"/>
            <a:ext cx="36830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Menu Ngữ Cảnh Chuột Phải</a:t>
            </a:r>
            <a:endParaRPr lang="en-US" sz="1150" b="1">
              <a:solidFill>
                <a:srgbClr val="0F172A"/>
              </a:solidFill>
              <a:latin typeface="Segoe UI" panose="020B0502040204020203" pitchFamily="34" charset="0"/>
            </a:endParaRPr>
          </a:p>
        </p:txBody>
      </p:sp>
      <p:sp>
        <p:nvSpPr>
          <p:cNvPr id="13" name="TextBox 12"/>
          <p:cNvSpPr txBox="1"/>
          <p:nvPr/>
        </p:nvSpPr>
        <p:spPr>
          <a:xfrm>
            <a:off x="812800" y="2311400"/>
            <a:ext cx="4978400" cy="923330"/>
          </a:xfrm>
          <a:prstGeom prst="rect">
            <a:avLst/>
          </a:prstGeom>
          <a:noFill/>
        </p:spPr>
        <p:txBody>
          <a:bodyPr vert="horz" wrap="square" lIns="0" tIns="0" rtlCol="0">
            <a:spAutoFit/>
          </a:bodyPr>
          <a:lstStyle/>
          <a:p>
            <a:r>
              <a:rPr lang="en-US" sz="950" smtClean="0">
                <a:solidFill>
                  <a:srgbClr val="334155"/>
                </a:solidFill>
                <a:latin typeface="Segoe UI" panose="020B0502040204020203" pitchFamily="34" charset="0"/>
              </a:rPr>
              <a:t>• Nhấp chuột phải vào bất kỳ ô hoặc dòng va chạm nào trong bảng:
  - 👁️ Hide selected row(s) [H / Delete]
  - 🔍 Zoom &amp; Select in Tekla
  - 🔄 Show all hidden rows ({0} hidden)
  - 📋 Copy row info
• Chuột phải lập tức chọn ngay dòng đó, thao tác tự nhiên và chuẩn xác.</a:t>
            </a:r>
            <a:endParaRPr lang="en-US" sz="950">
              <a:solidFill>
                <a:srgbClr val="334155"/>
              </a:solidFill>
              <a:latin typeface="Segoe UI" panose="020B0502040204020203" pitchFamily="34" charset="0"/>
            </a:endParaRPr>
          </a:p>
        </p:txBody>
      </p:sp>
      <p:sp>
        <p:nvSpPr>
          <p:cNvPr id="14" name="Rounded Rectangle 13"/>
          <p:cNvSpPr/>
          <p:nvPr/>
        </p:nvSpPr>
        <p:spPr>
          <a:xfrm>
            <a:off x="6223000" y="1905000"/>
            <a:ext cx="5334000" cy="20955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261100" y="1968500"/>
            <a:ext cx="50800" cy="19685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400800" y="2019300"/>
            <a:ext cx="17272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PHÍM TẮT H / DEL</a:t>
            </a:r>
            <a:endParaRPr lang="en-US" sz="900" b="1">
              <a:solidFill>
                <a:srgbClr val="0284C7"/>
              </a:solidFill>
              <a:latin typeface="Segoe UI" panose="020B0502040204020203" pitchFamily="34" charset="0"/>
            </a:endParaRPr>
          </a:p>
        </p:txBody>
      </p:sp>
      <p:sp>
        <p:nvSpPr>
          <p:cNvPr id="17" name="TextBox 16"/>
          <p:cNvSpPr txBox="1"/>
          <p:nvPr/>
        </p:nvSpPr>
        <p:spPr>
          <a:xfrm>
            <a:off x="8229600" y="2006600"/>
            <a:ext cx="32512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Duyệt Siêu Tốc Bằng Phím Tắt</a:t>
            </a:r>
            <a:endParaRPr lang="en-US" sz="1150" b="1">
              <a:solidFill>
                <a:srgbClr val="0F172A"/>
              </a:solidFill>
              <a:latin typeface="Segoe UI" panose="020B0502040204020203" pitchFamily="34" charset="0"/>
            </a:endParaRPr>
          </a:p>
        </p:txBody>
      </p:sp>
      <p:sp>
        <p:nvSpPr>
          <p:cNvPr id="18" name="TextBox 17"/>
          <p:cNvSpPr txBox="1"/>
          <p:nvPr/>
        </p:nvSpPr>
        <p:spPr>
          <a:xfrm>
            <a:off x="6400800" y="2311400"/>
            <a:ext cx="4978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Thay vì phải bấm chuột, bạn chỉ cần nhấn phím H (Hide) hoặc phím Delete trên bàn phím.
• Dòng va chạm vừa kiểm tra xong sẽ lập tức biến mất khỏi bảng.
• Con trỏ tự động nhảy xuống dòng hiển thị kế tiếp, giúp bạn duyệt 1 lượt 100+ điểm va chạm chỉ trong vài phút mà không cần nhấp chuột lại!</a:t>
            </a:r>
            <a:endParaRPr lang="en-US" sz="950">
              <a:solidFill>
                <a:srgbClr val="334155"/>
              </a:solidFill>
              <a:latin typeface="Segoe UI" panose="020B0502040204020203" pitchFamily="34" charset="0"/>
            </a:endParaRPr>
          </a:p>
        </p:txBody>
      </p:sp>
      <p:sp>
        <p:nvSpPr>
          <p:cNvPr id="19" name="Rounded Rectangle 18"/>
          <p:cNvSpPr/>
          <p:nvPr/>
        </p:nvSpPr>
        <p:spPr>
          <a:xfrm>
            <a:off x="635000" y="4191000"/>
            <a:ext cx="5334000" cy="1905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673100" y="4254500"/>
            <a:ext cx="50800" cy="17780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812800" y="4305300"/>
            <a:ext cx="12954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TIẾN ĐỘ THỰC</a:t>
            </a:r>
            <a:endParaRPr lang="en-US" sz="900" b="1">
              <a:solidFill>
                <a:srgbClr val="047857"/>
              </a:solidFill>
              <a:latin typeface="Segoe UI" panose="020B0502040204020203" pitchFamily="34" charset="0"/>
            </a:endParaRPr>
          </a:p>
        </p:txBody>
      </p:sp>
      <p:sp>
        <p:nvSpPr>
          <p:cNvPr id="22" name="TextBox 21"/>
          <p:cNvSpPr txBox="1"/>
          <p:nvPr/>
        </p:nvSpPr>
        <p:spPr>
          <a:xfrm>
            <a:off x="2209800" y="4292600"/>
            <a:ext cx="36830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Bộ Đếm Tiến Độ Thời Gian Thực</a:t>
            </a:r>
            <a:endParaRPr lang="en-US" sz="1150" b="1">
              <a:solidFill>
                <a:srgbClr val="0F172A"/>
              </a:solidFill>
              <a:latin typeface="Segoe UI" panose="020B0502040204020203" pitchFamily="34" charset="0"/>
            </a:endParaRPr>
          </a:p>
        </p:txBody>
      </p:sp>
      <p:sp>
        <p:nvSpPr>
          <p:cNvPr id="23" name="TextBox 22"/>
          <p:cNvSpPr txBox="1"/>
          <p:nvPr/>
        </p:nvSpPr>
        <p:spPr>
          <a:xfrm>
            <a:off x="812800" y="4597400"/>
            <a:ext cx="4978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Thanh trạng thái tự động cập nhật số lượng dòng: 'X clashes (Y hidden)'.
• Giúp kỹ sư nắm chắc tiến độ xử lý và số lượng va chạm còn tồn đọng.
• Đã xử lý an toàn CurrencyManager của WinForms, không bao giờ xảy ra lỗi khi ẩn dòng đang chọn.</a:t>
            </a:r>
            <a:endParaRPr lang="en-US" sz="950">
              <a:solidFill>
                <a:srgbClr val="334155"/>
              </a:solidFill>
              <a:latin typeface="Segoe UI" panose="020B0502040204020203" pitchFamily="34" charset="0"/>
            </a:endParaRPr>
          </a:p>
        </p:txBody>
      </p:sp>
      <p:sp>
        <p:nvSpPr>
          <p:cNvPr id="24" name="Rounded Rectangle 23"/>
          <p:cNvSpPr/>
          <p:nvPr/>
        </p:nvSpPr>
        <p:spPr>
          <a:xfrm>
            <a:off x="6223000" y="4191000"/>
            <a:ext cx="5334000" cy="1905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p:cNvSpPr/>
          <p:nvPr/>
        </p:nvSpPr>
        <p:spPr>
          <a:xfrm>
            <a:off x="6261100" y="4254500"/>
            <a:ext cx="50800" cy="1778000"/>
          </a:xfrm>
          <a:prstGeom prst="roundRect">
            <a:avLst/>
          </a:prstGeom>
          <a:solidFill>
            <a:srgbClr val="6D28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a:off x="6400800" y="4305300"/>
            <a:ext cx="965200" cy="254000"/>
          </a:xfrm>
          <a:prstGeom prst="roundRect">
            <a:avLst/>
          </a:prstGeom>
          <a:solidFill>
            <a:srgbClr val="F1F5F9"/>
          </a:solidFill>
          <a:ln w="12700">
            <a:solidFill>
              <a:srgbClr val="6D28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6D28D9"/>
                </a:solidFill>
                <a:latin typeface="Segoe UI" panose="020B0502040204020203" pitchFamily="34" charset="0"/>
              </a:rPr>
              <a:t>KHÔI PHỤC</a:t>
            </a:r>
            <a:endParaRPr lang="en-US" sz="900" b="1">
              <a:solidFill>
                <a:srgbClr val="6D28D9"/>
              </a:solidFill>
              <a:latin typeface="Segoe UI" panose="020B0502040204020203" pitchFamily="34" charset="0"/>
            </a:endParaRPr>
          </a:p>
        </p:txBody>
      </p:sp>
      <p:sp>
        <p:nvSpPr>
          <p:cNvPr id="27" name="TextBox 26"/>
          <p:cNvSpPr txBox="1"/>
          <p:nvPr/>
        </p:nvSpPr>
        <p:spPr>
          <a:xfrm>
            <a:off x="7467600" y="4292600"/>
            <a:ext cx="40132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Hiện Lại Toàn Bộ Dòng Đã Ẩn</a:t>
            </a:r>
            <a:endParaRPr lang="en-US" sz="1150" b="1">
              <a:solidFill>
                <a:srgbClr val="0F172A"/>
              </a:solidFill>
              <a:latin typeface="Segoe UI" panose="020B0502040204020203" pitchFamily="34" charset="0"/>
            </a:endParaRPr>
          </a:p>
        </p:txBody>
      </p:sp>
      <p:sp>
        <p:nvSpPr>
          <p:cNvPr id="28" name="TextBox 27"/>
          <p:cNvSpPr txBox="1"/>
          <p:nvPr/>
        </p:nvSpPr>
        <p:spPr>
          <a:xfrm>
            <a:off x="6400800" y="4597400"/>
            <a:ext cx="4978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Khi muốn xem lại toàn bộ danh sách va chạm ban đầu, nhấp chuột phải và chọn: [Show all hidden rows].
• Bảng lập tức khôi phục đầy đủ tất cả các dòng va chạm nguyên vẹn.
• Menu tự động hiển thị số lượng dòng đang bị ẩn để bạn dễ dàng theo dõi.</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147259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635000" y="228600"/>
            <a:ext cx="3048000" cy="304800"/>
          </a:xfrm>
          <a:prstGeom prst="roundRect">
            <a:avLst/>
          </a:prstGeom>
          <a:solidFill>
            <a:srgbClr val="FFFFFF"/>
          </a:solidFill>
          <a:ln w="12700">
            <a:solidFill>
              <a:srgbClr val="1D4E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b="1" smtClean="0">
                <a:solidFill>
                  <a:srgbClr val="1D4ED8"/>
                </a:solidFill>
                <a:latin typeface="Segoe UI" panose="020B0502040204020203" pitchFamily="34" charset="0"/>
              </a:rPr>
              <a:t>CẤU HÌNH VÀ CHIA SẺ BỘ CÔNG CỤ</a:t>
            </a:r>
            <a:endParaRPr lang="en-US" sz="950" b="1">
              <a:solidFill>
                <a:srgbClr val="1D4ED8"/>
              </a:solidFill>
              <a:latin typeface="Segoe UI" panose="020B0502040204020203" pitchFamily="34" charset="0"/>
            </a:endParaRPr>
          </a:p>
        </p:txBody>
      </p:sp>
      <p:sp>
        <p:nvSpPr>
          <p:cNvPr id="4" name="TextBox 3"/>
          <p:cNvSpPr txBox="1"/>
          <p:nvPr/>
        </p:nvSpPr>
        <p:spPr>
          <a:xfrm>
            <a:off x="635000" y="584200"/>
            <a:ext cx="10922000" cy="330860"/>
          </a:xfrm>
          <a:prstGeom prst="rect">
            <a:avLst/>
          </a:prstGeom>
          <a:noFill/>
        </p:spPr>
        <p:txBody>
          <a:bodyPr vert="horz" lIns="0" tIns="0" rtlCol="0">
            <a:spAutoFit/>
          </a:bodyPr>
          <a:lstStyle/>
          <a:p>
            <a:r>
              <a:rPr lang="vi-VN" sz="1850" b="1" smtClean="0">
                <a:solidFill>
                  <a:srgbClr val="0F172A"/>
                </a:solidFill>
                <a:latin typeface="Segoe UI" panose="020B0502040204020203" pitchFamily="34" charset="0"/>
              </a:rPr>
              <a:t>Tự Động Lưu Cấu Hình (Properties.Settings) và Đóng Gói Sử Dụng</a:t>
            </a:r>
            <a:endParaRPr lang="en-US" sz="1850" b="1">
              <a:solidFill>
                <a:srgbClr val="0F172A"/>
              </a:solidFill>
              <a:latin typeface="Segoe UI" panose="020B0502040204020203" pitchFamily="34" charset="0"/>
            </a:endParaRPr>
          </a:p>
        </p:txBody>
      </p:sp>
      <p:sp>
        <p:nvSpPr>
          <p:cNvPr id="5" name="TextBox 4"/>
          <p:cNvSpPr txBox="1"/>
          <p:nvPr/>
        </p:nvSpPr>
        <p:spPr>
          <a:xfrm>
            <a:off x="635000" y="990600"/>
            <a:ext cx="10922000" cy="207749"/>
          </a:xfrm>
          <a:prstGeom prst="rect">
            <a:avLst/>
          </a:prstGeom>
          <a:noFill/>
        </p:spPr>
        <p:txBody>
          <a:bodyPr vert="horz" lIns="0" tIns="0" rtlCol="0">
            <a:spAutoFit/>
          </a:bodyPr>
          <a:lstStyle/>
          <a:p>
            <a:r>
              <a:rPr lang="en-US" sz="1050" smtClean="0">
                <a:solidFill>
                  <a:srgbClr val="64748B"/>
                </a:solidFill>
                <a:latin typeface="Segoe UI" panose="020B0502040204020203" pitchFamily="34" charset="0"/>
              </a:rPr>
              <a:t>Ghi nhớ vĩnh viễn mọi thiết lập khi tắt mở và dễ dàng chia sẻ trọn gói cho đồng nghiệp</a:t>
            </a:r>
            <a:endParaRPr lang="en-US" sz="1050">
              <a:solidFill>
                <a:srgbClr val="64748B"/>
              </a:solidFill>
              <a:latin typeface="Segoe UI" panose="020B0502040204020203" pitchFamily="34" charset="0"/>
            </a:endParaRPr>
          </a:p>
        </p:txBody>
      </p:sp>
      <p:sp>
        <p:nvSpPr>
          <p:cNvPr id="6" name="TextBox 5"/>
          <p:cNvSpPr txBox="1"/>
          <p:nvPr/>
        </p:nvSpPr>
        <p:spPr>
          <a:xfrm>
            <a:off x="635000" y="6553200"/>
            <a:ext cx="10922000" cy="223138"/>
          </a:xfrm>
          <a:prstGeom prst="rect">
            <a:avLst/>
          </a:prstGeom>
          <a:noFill/>
        </p:spPr>
        <p:txBody>
          <a:bodyPr vert="horz" lIns="0" rtlCol="0">
            <a:spAutoFit/>
          </a:bodyPr>
          <a:lstStyle/>
          <a:p>
            <a:r>
              <a:rPr lang="vi-VN" sz="850" smtClean="0">
                <a:solidFill>
                  <a:srgbClr val="94A3B8"/>
                </a:solidFill>
                <a:latin typeface="Segoe UI" panose="020B0502040204020203" pitchFamily="34" charset="0"/>
              </a:rPr>
              <a:t>TEKLA ADDIN - CLASH CHECK (REBAR VS IFC) - HƯỚNG DẪN SỬ DỤNG 2026</a:t>
            </a:r>
            <a:endParaRPr lang="en-US" sz="850">
              <a:solidFill>
                <a:srgbClr val="94A3B8"/>
              </a:solidFill>
              <a:latin typeface="Segoe UI" panose="020B0502040204020203" pitchFamily="34" charset="0"/>
            </a:endParaRPr>
          </a:p>
        </p:txBody>
      </p:sp>
      <p:sp>
        <p:nvSpPr>
          <p:cNvPr id="7" name="Rounded Rectangle 6"/>
          <p:cNvSpPr/>
          <p:nvPr/>
        </p:nvSpPr>
        <p:spPr>
          <a:xfrm>
            <a:off x="635000" y="1587500"/>
            <a:ext cx="5334000" cy="2667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673100" y="1651000"/>
            <a:ext cx="50800" cy="2540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12800" y="1701800"/>
            <a:ext cx="965200" cy="254000"/>
          </a:xfrm>
          <a:prstGeom prst="roundRect">
            <a:avLst/>
          </a:prstGeom>
          <a:solidFill>
            <a:srgbClr val="F1F5F9"/>
          </a:solidFill>
          <a:ln w="12700">
            <a:solidFill>
              <a:srgbClr val="0284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284C7"/>
                </a:solidFill>
                <a:latin typeface="Segoe UI" panose="020B0502040204020203" pitchFamily="34" charset="0"/>
              </a:rPr>
              <a:t>AUTO SAVE</a:t>
            </a:r>
            <a:endParaRPr lang="en-US" sz="900" b="1">
              <a:solidFill>
                <a:srgbClr val="0284C7"/>
              </a:solidFill>
              <a:latin typeface="Segoe UI" panose="020B0502040204020203" pitchFamily="34" charset="0"/>
            </a:endParaRPr>
          </a:p>
        </p:txBody>
      </p:sp>
      <p:sp>
        <p:nvSpPr>
          <p:cNvPr id="10" name="TextBox 9"/>
          <p:cNvSpPr txBox="1"/>
          <p:nvPr/>
        </p:nvSpPr>
        <p:spPr>
          <a:xfrm>
            <a:off x="1879600" y="1689100"/>
            <a:ext cx="40132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Tự Động Ghi Nhớ Cài Đặt (Properties.Settings)</a:t>
            </a:r>
            <a:endParaRPr lang="en-US" sz="1150" b="1">
              <a:solidFill>
                <a:srgbClr val="0F172A"/>
              </a:solidFill>
              <a:latin typeface="Segoe UI" panose="020B0502040204020203" pitchFamily="34" charset="0"/>
            </a:endParaRPr>
          </a:p>
        </p:txBody>
      </p:sp>
      <p:sp>
        <p:nvSpPr>
          <p:cNvPr id="11" name="TextBox 10"/>
          <p:cNvSpPr txBox="1"/>
          <p:nvPr/>
        </p:nvSpPr>
        <p:spPr>
          <a:xfrm>
            <a:off x="812800" y="1993900"/>
            <a:ext cx="4978400" cy="1261884"/>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Mọi thông số điều khiển đều được tự động lưu vĩnh viễn vào Properties.Settings của Windows:
  - Rebar Scope: [Selected Rebars] hay [All Rebars].
  - Tolerance (mm) và Clearance (mm).
  - Trạng thái Checkbox và danh sách từ khóa Skip Filter &amp; Only Filter.
  - Danh sách các file IFC cụ thể đã tích chọn.
  - Kích thước cửa sổ Form (Width/Height) và trạng thái phóng to (Maximized).
• Khi mở lại Tool, toàn bộ thiết lập được nạp lại nguyên vẹn 100%!</a:t>
            </a:r>
            <a:endParaRPr lang="en-US" sz="950">
              <a:solidFill>
                <a:srgbClr val="334155"/>
              </a:solidFill>
              <a:latin typeface="Segoe UI" panose="020B0502040204020203" pitchFamily="34" charset="0"/>
            </a:endParaRPr>
          </a:p>
        </p:txBody>
      </p:sp>
      <p:sp>
        <p:nvSpPr>
          <p:cNvPr id="12" name="Rounded Rectangle 11"/>
          <p:cNvSpPr/>
          <p:nvPr/>
        </p:nvSpPr>
        <p:spPr>
          <a:xfrm>
            <a:off x="6223000" y="1587500"/>
            <a:ext cx="5334000" cy="2667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6261100" y="1651000"/>
            <a:ext cx="50800" cy="2540000"/>
          </a:xfrm>
          <a:prstGeom prst="roundRect">
            <a:avLst/>
          </a:prstGeom>
          <a:solidFill>
            <a:srgbClr val="0478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6400800" y="1701800"/>
            <a:ext cx="1727200" cy="254000"/>
          </a:xfrm>
          <a:prstGeom prst="roundRect">
            <a:avLst/>
          </a:prstGeom>
          <a:solidFill>
            <a:srgbClr val="F1F5F9"/>
          </a:solidFill>
          <a:ln w="12700">
            <a:solidFill>
              <a:srgbClr val="0478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047857"/>
                </a:solidFill>
                <a:latin typeface="Segoe UI" panose="020B0502040204020203" pitchFamily="34" charset="0"/>
              </a:rPr>
              <a:t>ĐÓNG GÓI CHIA SẺ</a:t>
            </a:r>
            <a:endParaRPr lang="en-US" sz="900" b="1">
              <a:solidFill>
                <a:srgbClr val="047857"/>
              </a:solidFill>
              <a:latin typeface="Segoe UI" panose="020B0502040204020203" pitchFamily="34" charset="0"/>
            </a:endParaRPr>
          </a:p>
        </p:txBody>
      </p:sp>
      <p:sp>
        <p:nvSpPr>
          <p:cNvPr id="15" name="TextBox 14"/>
          <p:cNvSpPr txBox="1"/>
          <p:nvPr/>
        </p:nvSpPr>
        <p:spPr>
          <a:xfrm>
            <a:off x="8229600" y="1689100"/>
            <a:ext cx="32512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Chia Sẻ Bộ Tool Cho Đồng Nghiệp</a:t>
            </a:r>
            <a:endParaRPr lang="en-US" sz="1150" b="1">
              <a:solidFill>
                <a:srgbClr val="0F172A"/>
              </a:solidFill>
              <a:latin typeface="Segoe UI" panose="020B0502040204020203" pitchFamily="34" charset="0"/>
            </a:endParaRPr>
          </a:p>
        </p:txBody>
      </p:sp>
      <p:sp>
        <p:nvSpPr>
          <p:cNvPr id="16" name="TextBox 15"/>
          <p:cNvSpPr txBox="1"/>
          <p:nvPr/>
        </p:nvSpPr>
        <p:spPr>
          <a:xfrm>
            <a:off x="6400800" y="1993900"/>
            <a:ext cx="4978400" cy="777136"/>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Bộ cài chạy độc lập (Standalone): Nằm gọn trong thư mục dist\ClashCheck_Tekla2020\.
• File nén chia sẻ: dist\ClashCheck_Tekla2020.zip (chỉ ~19MB).
• Chỉ cần giải nén và chạy file Clash-check.exe trên bất kỳ máy tính nào có cài Tekla Structures (không cần cài đặt thêm thư viện ngoài).
• Tương thích mượt mà: Tekla Structures 2020, 2025, 2026.</a:t>
            </a:r>
            <a:endParaRPr lang="en-US" sz="950">
              <a:solidFill>
                <a:srgbClr val="334155"/>
              </a:solidFill>
              <a:latin typeface="Segoe UI" panose="020B0502040204020203" pitchFamily="34" charset="0"/>
            </a:endParaRPr>
          </a:p>
        </p:txBody>
      </p:sp>
      <p:sp>
        <p:nvSpPr>
          <p:cNvPr id="17" name="Rounded Rectangle 16"/>
          <p:cNvSpPr/>
          <p:nvPr/>
        </p:nvSpPr>
        <p:spPr>
          <a:xfrm>
            <a:off x="635000" y="4445000"/>
            <a:ext cx="10922000" cy="1651000"/>
          </a:xfrm>
          <a:prstGeom prst="roundRect">
            <a:avLst/>
          </a:prstGeom>
          <a:solidFill>
            <a:srgbClr val="FFFFFF"/>
          </a:solidFill>
          <a:ln w="12700">
            <a:solidFill>
              <a:srgbClr val="CBD5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673100" y="4508500"/>
            <a:ext cx="50800" cy="1524000"/>
          </a:xfrm>
          <a:prstGeom prst="roundRect">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812800" y="4559300"/>
            <a:ext cx="2159000" cy="254000"/>
          </a:xfrm>
          <a:prstGeom prst="roundRect">
            <a:avLst/>
          </a:prstGeom>
          <a:solidFill>
            <a:srgbClr val="F1F5F9"/>
          </a:solidFill>
          <a:ln w="12700">
            <a:solidFill>
              <a:srgbClr val="B453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B45309"/>
                </a:solidFill>
                <a:latin typeface="Segoe UI" panose="020B0502040204020203" pitchFamily="34" charset="0"/>
              </a:rPr>
              <a:t>VỊ TRÍ FILE TÀI LIỆU</a:t>
            </a:r>
            <a:endParaRPr lang="en-US" sz="900" b="1">
              <a:solidFill>
                <a:srgbClr val="B45309"/>
              </a:solidFill>
              <a:latin typeface="Segoe UI" panose="020B0502040204020203" pitchFamily="34" charset="0"/>
            </a:endParaRPr>
          </a:p>
        </p:txBody>
      </p:sp>
      <p:sp>
        <p:nvSpPr>
          <p:cNvPr id="20" name="TextBox 19"/>
          <p:cNvSpPr txBox="1"/>
          <p:nvPr/>
        </p:nvSpPr>
        <p:spPr>
          <a:xfrm>
            <a:off x="3073400" y="4546600"/>
            <a:ext cx="8407400" cy="223138"/>
          </a:xfrm>
          <a:prstGeom prst="rect">
            <a:avLst/>
          </a:prstGeom>
          <a:noFill/>
        </p:spPr>
        <p:txBody>
          <a:bodyPr vert="horz" lIns="0" tIns="0" rtlCol="0">
            <a:spAutoFit/>
          </a:bodyPr>
          <a:lstStyle/>
          <a:p>
            <a:r>
              <a:rPr lang="en-US" sz="1150" b="1" smtClean="0">
                <a:solidFill>
                  <a:srgbClr val="0F172A"/>
                </a:solidFill>
                <a:latin typeface="Segoe UI" panose="020B0502040204020203" pitchFamily="34" charset="0"/>
              </a:rPr>
              <a:t>Vị Trí Các File Tài Liệu và Gói Phân Phối</a:t>
            </a:r>
            <a:endParaRPr lang="en-US" sz="1150" b="1">
              <a:solidFill>
                <a:srgbClr val="0F172A"/>
              </a:solidFill>
              <a:latin typeface="Segoe UI" panose="020B0502040204020203" pitchFamily="34" charset="0"/>
            </a:endParaRPr>
          </a:p>
        </p:txBody>
      </p:sp>
      <p:sp>
        <p:nvSpPr>
          <p:cNvPr id="21" name="TextBox 20"/>
          <p:cNvSpPr txBox="1"/>
          <p:nvPr/>
        </p:nvSpPr>
        <p:spPr>
          <a:xfrm>
            <a:off x="812800" y="4851400"/>
            <a:ext cx="10566400" cy="630942"/>
          </a:xfrm>
          <a:prstGeom prst="rect">
            <a:avLst/>
          </a:prstGeom>
          <a:noFill/>
        </p:spPr>
        <p:txBody>
          <a:bodyPr vert="horz" wrap="square" lIns="0" tIns="0" rtlCol="0">
            <a:spAutoFit/>
          </a:bodyPr>
          <a:lstStyle/>
          <a:p>
            <a:r>
              <a:rPr lang="vi-VN" sz="950" smtClean="0">
                <a:solidFill>
                  <a:srgbClr val="334155"/>
                </a:solidFill>
                <a:latin typeface="Segoe UI" panose="020B0502040204020203" pitchFamily="34" charset="0"/>
              </a:rPr>
              <a:t>• File PowerPoint hướng dẫn ở thư mục gốc: Huong_Dan_Su_Dung_Clash_Check.pptx
• File PowerPoint đã sao chép ra Desktop: C:\Users\BIM\Desktop\Huong_Dan_Su_Dung_Clash_Check.pptx
• File PDF xem nhanh trên điện thoại/máy tính: Huong_Dan_Su_Dung_Clash_Check.pdf
• Bộ công cụ nén chia sẻ gửi đi: dist\ClashCheck_Tekla2020.zip</a:t>
            </a:r>
            <a:endParaRPr lang="en-US" sz="950">
              <a:solidFill>
                <a:srgbClr val="334155"/>
              </a:solidFill>
              <a:latin typeface="Segoe UI" panose="020B0502040204020203" pitchFamily="34" charset="0"/>
            </a:endParaRPr>
          </a:p>
        </p:txBody>
      </p:sp>
    </p:spTree>
    <p:extLst>
      <p:ext uri="{BB962C8B-B14F-4D97-AF65-F5344CB8AC3E}">
        <p14:creationId xmlns:p14="http://schemas.microsoft.com/office/powerpoint/2010/main" val="2302912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1621</Words>
  <Application>Microsoft Office PowerPoint</Application>
  <PresentationFormat>Custom</PresentationFormat>
  <Paragraphs>153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BIM</dc:creator>
  <cp:lastModifiedBy>BIM</cp:lastModifiedBy>
  <cp:revision>1</cp:revision>
  <dcterms:created xsi:type="dcterms:W3CDTF">2026-09-24T01:47:50Z</dcterms:created>
  <dcterms:modified xsi:type="dcterms:W3CDTF">2026-09-24T01:47:50Z</dcterms:modified>
</cp:coreProperties>
</file>